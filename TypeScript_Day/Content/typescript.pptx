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389" r:id="rId3"/>
    <p:sldId id="395" r:id="rId4"/>
    <p:sldId id="390" r:id="rId5"/>
    <p:sldId id="393" r:id="rId6"/>
    <p:sldId id="391" r:id="rId7"/>
    <p:sldId id="392" r:id="rId8"/>
    <p:sldId id="394" r:id="rId9"/>
    <p:sldId id="396" r:id="rId10"/>
    <p:sldId id="308" r:id="rId11"/>
    <p:sldId id="397" r:id="rId12"/>
    <p:sldId id="398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9" r:id="rId24"/>
    <p:sldId id="400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20" r:id="rId34"/>
    <p:sldId id="421" r:id="rId35"/>
    <p:sldId id="422" r:id="rId36"/>
    <p:sldId id="423" r:id="rId37"/>
    <p:sldId id="424" r:id="rId38"/>
    <p:sldId id="425" r:id="rId39"/>
    <p:sldId id="426" r:id="rId40"/>
    <p:sldId id="427" r:id="rId41"/>
    <p:sldId id="288" r:id="rId4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 autoAdjust="0"/>
    <p:restoredTop sz="94660"/>
  </p:normalViewPr>
  <p:slideViewPr>
    <p:cSldViewPr>
      <p:cViewPr varScale="1">
        <p:scale>
          <a:sx n="75" d="100"/>
          <a:sy n="75" d="100"/>
        </p:scale>
        <p:origin x="1003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3172C-E270-4AFD-880C-5BB41B3B11C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20379-0336-4D25-9531-EECABCC38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6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AC3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2194" y="2648788"/>
            <a:ext cx="6547611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0268" y="1670050"/>
            <a:ext cx="7923530" cy="4036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nodejs.org/en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ypescriptlang.org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4" descr="Web designing course training in salem | Nextz Technologies">
            <a:extLst>
              <a:ext uri="{FF2B5EF4-FFF2-40B4-BE49-F238E27FC236}">
                <a16:creationId xmlns:a16="http://schemas.microsoft.com/office/drawing/2014/main" id="{FE6080B5-8E24-BD6E-DAF7-56422CEA68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Web Design Company in Salem | Salem Web Designing Company">
            <a:extLst>
              <a:ext uri="{FF2B5EF4-FFF2-40B4-BE49-F238E27FC236}">
                <a16:creationId xmlns:a16="http://schemas.microsoft.com/office/drawing/2014/main" id="{7AD7A3C1-D898-E475-56BC-6259591F2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298"/>
            <a:ext cx="12192000" cy="6885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bject 10"/>
          <p:cNvSpPr txBox="1"/>
          <p:nvPr/>
        </p:nvSpPr>
        <p:spPr>
          <a:xfrm>
            <a:off x="685800" y="5257800"/>
            <a:ext cx="45720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140" dirty="0">
                <a:solidFill>
                  <a:schemeClr val="bg1"/>
                </a:solidFill>
                <a:latin typeface="Cambria"/>
                <a:cs typeface="Cambria"/>
              </a:rPr>
              <a:t>Kholoud srour </a:t>
            </a:r>
            <a:endParaRPr sz="2400" dirty="0">
              <a:solidFill>
                <a:schemeClr val="bg1"/>
              </a:solidFill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lang="en-US" sz="2400" spc="60" dirty="0">
                <a:solidFill>
                  <a:schemeClr val="bg1"/>
                </a:solidFill>
                <a:latin typeface="Cambria"/>
                <a:cs typeface="Cambria"/>
              </a:rPr>
              <a:t>Demonstrator in the Information Technology Department</a:t>
            </a:r>
            <a:endParaRPr lang="en-US" sz="2400" dirty="0">
              <a:solidFill>
                <a:schemeClr val="bg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274425" cy="6858000"/>
            <a:chOff x="0" y="0"/>
            <a:chExt cx="11274425" cy="6858000"/>
          </a:xfrm>
        </p:grpSpPr>
        <p:sp>
          <p:nvSpPr>
            <p:cNvPr id="4" name="object 4"/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1F09F65C-87F8-9BE0-EF04-08666CDC6513}"/>
              </a:ext>
            </a:extLst>
          </p:cNvPr>
          <p:cNvSpPr txBox="1">
            <a:spLocks/>
          </p:cNvSpPr>
          <p:nvPr/>
        </p:nvSpPr>
        <p:spPr>
          <a:xfrm>
            <a:off x="609600" y="-27122"/>
            <a:ext cx="6547611" cy="1128770"/>
          </a:xfrm>
          <a:prstGeom prst="rect">
            <a:avLst/>
          </a:prstGeom>
        </p:spPr>
        <p:txBody>
          <a:bodyPr vert="horz" wrap="square" lIns="0" tIns="569213" rIns="0" bIns="0" rtlCol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3600" dirty="0">
                <a:solidFill>
                  <a:srgbClr val="92D050"/>
                </a:solidFill>
              </a:rPr>
              <a:t>Introduction to TypeScript</a:t>
            </a:r>
            <a:r>
              <a:rPr lang="en-US" sz="3500" kern="0" spc="-10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93836-EF71-4831-F4C3-BF325F170DE0}"/>
              </a:ext>
            </a:extLst>
          </p:cNvPr>
          <p:cNvSpPr txBox="1"/>
          <p:nvPr/>
        </p:nvSpPr>
        <p:spPr>
          <a:xfrm>
            <a:off x="457200" y="1600200"/>
            <a:ext cx="8763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TypeScript?</a:t>
            </a:r>
          </a:p>
          <a:p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_TypeScript is a programming language developed by Microsoft.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_It is a superset of JavaScript.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_Any valid JavaScript code is also valid in TypeScript.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_TypeScript adds powerful features such as: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Typing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Checking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Autocomplete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Features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13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ACC13-ED31-45A6-4052-26DAED0D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9A5210-3F50-B18A-D04A-A12FFCB30C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D847321-9271-0546-915E-909A77F7C4CE}"/>
              </a:ext>
            </a:extLst>
          </p:cNvPr>
          <p:cNvGrpSpPr/>
          <p:nvPr/>
        </p:nvGrpSpPr>
        <p:grpSpPr>
          <a:xfrm>
            <a:off x="0" y="0"/>
            <a:ext cx="11274425" cy="6858000"/>
            <a:chOff x="0" y="0"/>
            <a:chExt cx="1127442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E2958AE-D3AE-13C0-7CD0-737EE7DF2205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FAB707-35D3-0489-57EE-C40AEEFFCD8D}"/>
                </a:ext>
              </a:extLst>
            </p:cNvPr>
            <p:cNvSpPr/>
            <p:nvPr/>
          </p:nvSpPr>
          <p:spPr>
            <a:xfrm>
              <a:off x="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81B7DF74-7435-3D61-5A8E-71E51E8BFD42}"/>
              </a:ext>
            </a:extLst>
          </p:cNvPr>
          <p:cNvSpPr txBox="1">
            <a:spLocks/>
          </p:cNvSpPr>
          <p:nvPr/>
        </p:nvSpPr>
        <p:spPr>
          <a:xfrm>
            <a:off x="609600" y="-27122"/>
            <a:ext cx="6547611" cy="1128770"/>
          </a:xfrm>
          <a:prstGeom prst="rect">
            <a:avLst/>
          </a:prstGeom>
        </p:spPr>
        <p:txBody>
          <a:bodyPr vert="horz" wrap="square" lIns="0" tIns="569213" rIns="0" bIns="0" rtlCol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3600" dirty="0">
                <a:solidFill>
                  <a:srgbClr val="92D050"/>
                </a:solidFill>
              </a:rPr>
              <a:t>Introduction to TypeScript</a:t>
            </a:r>
            <a:r>
              <a:rPr lang="en-US" sz="3500" kern="0" spc="-10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03F04-F1C4-CD58-57F9-030D70D459DD}"/>
              </a:ext>
            </a:extLst>
          </p:cNvPr>
          <p:cNvSpPr txBox="1"/>
          <p:nvPr/>
        </p:nvSpPr>
        <p:spPr>
          <a:xfrm>
            <a:off x="457200" y="1600200"/>
            <a:ext cx="8763000" cy="2653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Is TypeScript Used?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(react , angular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(express.js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nestjs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(react native)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Applications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(electron)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2654158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E2C4B-3584-8A79-8779-1B735D40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8AFC09-9480-3F2C-BD18-D22C6584CC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19B04C1-4F0F-3A15-5217-BFA190972FD8}"/>
              </a:ext>
            </a:extLst>
          </p:cNvPr>
          <p:cNvGrpSpPr/>
          <p:nvPr/>
        </p:nvGrpSpPr>
        <p:grpSpPr>
          <a:xfrm>
            <a:off x="0" y="0"/>
            <a:ext cx="11274425" cy="6858000"/>
            <a:chOff x="0" y="0"/>
            <a:chExt cx="1127442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3C87AD4-7D36-B4B6-8CC2-686DAEE3671C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94D735-1EA0-E5E2-AD18-F2ED694815A2}"/>
                </a:ext>
              </a:extLst>
            </p:cNvPr>
            <p:cNvSpPr/>
            <p:nvPr/>
          </p:nvSpPr>
          <p:spPr>
            <a:xfrm>
              <a:off x="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BA463366-A865-6D83-BAC8-ED7A7100202E}"/>
              </a:ext>
            </a:extLst>
          </p:cNvPr>
          <p:cNvSpPr txBox="1">
            <a:spLocks/>
          </p:cNvSpPr>
          <p:nvPr/>
        </p:nvSpPr>
        <p:spPr>
          <a:xfrm>
            <a:off x="609600" y="-27122"/>
            <a:ext cx="6547611" cy="1128770"/>
          </a:xfrm>
          <a:prstGeom prst="rect">
            <a:avLst/>
          </a:prstGeom>
        </p:spPr>
        <p:txBody>
          <a:bodyPr vert="horz" wrap="square" lIns="0" tIns="569213" rIns="0" bIns="0" rtlCol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3600" dirty="0">
                <a:solidFill>
                  <a:srgbClr val="92D050"/>
                </a:solidFill>
              </a:rPr>
              <a:t>Introduction to TypeScript</a:t>
            </a:r>
            <a:r>
              <a:rPr lang="en-US" sz="3500" kern="0" spc="-10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3099B-D8A2-F181-CC3D-1AAF779D78E7}"/>
              </a:ext>
            </a:extLst>
          </p:cNvPr>
          <p:cNvSpPr txBox="1"/>
          <p:nvPr/>
        </p:nvSpPr>
        <p:spPr>
          <a:xfrm>
            <a:off x="457200" y="1600200"/>
            <a:ext cx="8763000" cy="172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_TypeScript helps developers detect errors while writing code instead of discovering them after running the application.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1CB2E5-0C65-89A2-EEDB-CB5D29182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105706"/>
            <a:ext cx="7135221" cy="1314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165-E07F-E438-BE9F-5105DE2B1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18014"/>
            <a:ext cx="7230484" cy="132416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DDFD97-DFE2-0270-5246-427DF81F0737}"/>
              </a:ext>
            </a:extLst>
          </p:cNvPr>
          <p:cNvSpPr/>
          <p:nvPr/>
        </p:nvSpPr>
        <p:spPr>
          <a:xfrm>
            <a:off x="3883405" y="5280094"/>
            <a:ext cx="2060195" cy="42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40C4F-679A-1741-C6FA-DE63C8400949}"/>
              </a:ext>
            </a:extLst>
          </p:cNvPr>
          <p:cNvSpPr txBox="1"/>
          <p:nvPr/>
        </p:nvSpPr>
        <p:spPr>
          <a:xfrm>
            <a:off x="6123214" y="5187512"/>
            <a:ext cx="15345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2809312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69451-4B39-F112-2628-6835B492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0C378C-2CAE-D553-8417-0135985B4F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88698B-4435-C1DA-9C20-B124B31CB89D}"/>
              </a:ext>
            </a:extLst>
          </p:cNvPr>
          <p:cNvGrpSpPr/>
          <p:nvPr/>
        </p:nvGrpSpPr>
        <p:grpSpPr>
          <a:xfrm>
            <a:off x="0" y="0"/>
            <a:ext cx="11274425" cy="6858000"/>
            <a:chOff x="0" y="0"/>
            <a:chExt cx="1127442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9A691FF-1EAA-B2C3-F2F3-4277B0DC4F6E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5FD2680-4EBD-8D06-706E-E1340BC3478B}"/>
                </a:ext>
              </a:extLst>
            </p:cNvPr>
            <p:cNvSpPr/>
            <p:nvPr/>
          </p:nvSpPr>
          <p:spPr>
            <a:xfrm>
              <a:off x="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A9A0DD45-2B08-844A-5AA6-3AF2B6649C6A}"/>
              </a:ext>
            </a:extLst>
          </p:cNvPr>
          <p:cNvSpPr txBox="1">
            <a:spLocks/>
          </p:cNvSpPr>
          <p:nvPr/>
        </p:nvSpPr>
        <p:spPr>
          <a:xfrm>
            <a:off x="609600" y="-27122"/>
            <a:ext cx="6547611" cy="1128770"/>
          </a:xfrm>
          <a:prstGeom prst="rect">
            <a:avLst/>
          </a:prstGeom>
        </p:spPr>
        <p:txBody>
          <a:bodyPr vert="horz" wrap="square" lIns="0" tIns="569213" rIns="0" bIns="0" rtlCol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3600" dirty="0">
                <a:solidFill>
                  <a:srgbClr val="92D050"/>
                </a:solidFill>
              </a:rPr>
              <a:t>Introduction to TypeScript</a:t>
            </a:r>
            <a:r>
              <a:rPr lang="en-US" sz="3500" kern="0" spc="-10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1C761-B631-5EC5-9DA1-302E8A045EFE}"/>
              </a:ext>
            </a:extLst>
          </p:cNvPr>
          <p:cNvSpPr txBox="1"/>
          <p:nvPr/>
        </p:nvSpPr>
        <p:spPr>
          <a:xfrm>
            <a:off x="457200" y="1600200"/>
            <a:ext cx="8763000" cy="357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with JavaScript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_JavaScript is flexible, but this flexibility can create problems in large applications. Common issues in JavaScript: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typing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errors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maintenance in large projects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 teamwork in big applications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Bugs appear after running the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572224-D09C-4294-03EB-D5FEFDF91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814" y="3969967"/>
            <a:ext cx="3600953" cy="17052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CD844E-927C-4501-4FBC-051BF3BE6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545" y="5075021"/>
            <a:ext cx="800212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2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6B19-1A9D-05A5-6480-690C5B95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177A130-EAF0-E18A-3782-268416F639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B947E7D-28C0-2CC3-0BF5-4D23FF3588C9}"/>
              </a:ext>
            </a:extLst>
          </p:cNvPr>
          <p:cNvGrpSpPr/>
          <p:nvPr/>
        </p:nvGrpSpPr>
        <p:grpSpPr>
          <a:xfrm>
            <a:off x="0" y="0"/>
            <a:ext cx="11274425" cy="6858000"/>
            <a:chOff x="0" y="0"/>
            <a:chExt cx="1127442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1E326D1-294E-599A-3822-042D45496EF9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2257CF-7199-4CC3-CD2F-EE80C3C3B150}"/>
                </a:ext>
              </a:extLst>
            </p:cNvPr>
            <p:cNvSpPr/>
            <p:nvPr/>
          </p:nvSpPr>
          <p:spPr>
            <a:xfrm>
              <a:off x="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14FD3BCB-BE44-6A21-506D-A30489BBB882}"/>
              </a:ext>
            </a:extLst>
          </p:cNvPr>
          <p:cNvSpPr txBox="1">
            <a:spLocks/>
          </p:cNvSpPr>
          <p:nvPr/>
        </p:nvSpPr>
        <p:spPr>
          <a:xfrm>
            <a:off x="609600" y="-27122"/>
            <a:ext cx="6547611" cy="1128770"/>
          </a:xfrm>
          <a:prstGeom prst="rect">
            <a:avLst/>
          </a:prstGeom>
        </p:spPr>
        <p:txBody>
          <a:bodyPr vert="horz" wrap="square" lIns="0" tIns="569213" rIns="0" bIns="0" rtlCol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3600" dirty="0">
                <a:solidFill>
                  <a:srgbClr val="92D050"/>
                </a:solidFill>
              </a:rPr>
              <a:t>Introduction to TypeScript</a:t>
            </a:r>
            <a:r>
              <a:rPr lang="en-US" sz="3500" kern="0" spc="-10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E7BD7-2AA6-1F5E-40DC-8A0C28BC368C}"/>
              </a:ext>
            </a:extLst>
          </p:cNvPr>
          <p:cNvSpPr txBox="1"/>
          <p:nvPr/>
        </p:nvSpPr>
        <p:spPr>
          <a:xfrm>
            <a:off x="457200" y="1145099"/>
            <a:ext cx="10210800" cy="5538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Companies Use TypeScript?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_Reduces bugs in large projects.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_Makes code more organized.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_Easier teamwork and collaboration.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_Suitable for scalable applications.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_Commonly used with React, Angular, and Node.js.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 does not run directly in the browser. It must first be compiled into JavaScript. TypeScript → JavaScript → Browser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546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9B3A-AFEA-C237-09A6-C3DD1FC79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04CBC0-A823-A3C1-2E64-3CA91F997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FBEAA9B-8F86-EB79-93F3-6486EFDB6954}"/>
              </a:ext>
            </a:extLst>
          </p:cNvPr>
          <p:cNvGrpSpPr/>
          <p:nvPr/>
        </p:nvGrpSpPr>
        <p:grpSpPr>
          <a:xfrm>
            <a:off x="0" y="0"/>
            <a:ext cx="11274425" cy="6858000"/>
            <a:chOff x="0" y="0"/>
            <a:chExt cx="1127442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F3529DD-9631-DD84-0C16-EA94B958B08A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7DADCF-190E-BE72-DFA3-FD2D1E984211}"/>
                </a:ext>
              </a:extLst>
            </p:cNvPr>
            <p:cNvSpPr/>
            <p:nvPr/>
          </p:nvSpPr>
          <p:spPr>
            <a:xfrm>
              <a:off x="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64D233B9-A2D1-1B8E-74FF-268296F1A1EE}"/>
              </a:ext>
            </a:extLst>
          </p:cNvPr>
          <p:cNvSpPr txBox="1">
            <a:spLocks/>
          </p:cNvSpPr>
          <p:nvPr/>
        </p:nvSpPr>
        <p:spPr>
          <a:xfrm>
            <a:off x="609600" y="-27122"/>
            <a:ext cx="6547611" cy="1128770"/>
          </a:xfrm>
          <a:prstGeom prst="rect">
            <a:avLst/>
          </a:prstGeom>
        </p:spPr>
        <p:txBody>
          <a:bodyPr vert="horz" wrap="square" lIns="0" tIns="569213" rIns="0" bIns="0" rtlCol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3600" dirty="0">
                <a:solidFill>
                  <a:srgbClr val="92D050"/>
                </a:solidFill>
              </a:rPr>
              <a:t>Introduction to TypeScript</a:t>
            </a:r>
            <a:r>
              <a:rPr lang="en-US" sz="3500" kern="0" spc="-10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679DC-E409-A3E3-7FB7-3915010876FE}"/>
              </a:ext>
            </a:extLst>
          </p:cNvPr>
          <p:cNvSpPr txBox="1"/>
          <p:nvPr/>
        </p:nvSpPr>
        <p:spPr>
          <a:xfrm>
            <a:off x="457200" y="1600200"/>
            <a:ext cx="876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vs TypeScript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495A388-1A65-8A49-E17C-96BB2AF50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901740"/>
              </p:ext>
            </p:extLst>
          </p:nvPr>
        </p:nvGraphicFramePr>
        <p:xfrm>
          <a:off x="424543" y="2264085"/>
          <a:ext cx="8128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926157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6150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cs typeface="+mj-cs"/>
                        </a:rPr>
                        <a:t>JavaScript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>
                          <a:cs typeface="+mj-cs"/>
                        </a:rPr>
                        <a:t> </a:t>
                      </a:r>
                      <a:r>
                        <a:rPr lang="en-US" b="1" dirty="0">
                          <a:cs typeface="+mj-cs"/>
                        </a:rPr>
                        <a:t>typescript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37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Dynamically Typed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Statically Typed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0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Errors appear during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Errors appear during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852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Easier for small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Better for large 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58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No compilation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Must be compiled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00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Less 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More strict and safer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1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Simpler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cs typeface="+mj-cs"/>
                        </a:rPr>
                        <a:t>Slightly more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08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243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B71B-4F28-08EF-4C00-C94EB865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4DFA23-53A1-55EA-3306-07FEF1B4F3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5C9AB9F-5DC3-6BC2-F6CC-787E25163F9C}"/>
              </a:ext>
            </a:extLst>
          </p:cNvPr>
          <p:cNvGrpSpPr/>
          <p:nvPr/>
        </p:nvGrpSpPr>
        <p:grpSpPr>
          <a:xfrm>
            <a:off x="0" y="0"/>
            <a:ext cx="11274425" cy="6858000"/>
            <a:chOff x="0" y="0"/>
            <a:chExt cx="1127442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7C886A7-CBA9-7C07-D88E-6541DE15A96E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1E491EC-1574-48D5-EBC4-FA7F2D838D87}"/>
                </a:ext>
              </a:extLst>
            </p:cNvPr>
            <p:cNvSpPr/>
            <p:nvPr/>
          </p:nvSpPr>
          <p:spPr>
            <a:xfrm>
              <a:off x="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3397396-98DB-35A6-7B35-78B01EB83891}"/>
              </a:ext>
            </a:extLst>
          </p:cNvPr>
          <p:cNvSpPr txBox="1">
            <a:spLocks/>
          </p:cNvSpPr>
          <p:nvPr/>
        </p:nvSpPr>
        <p:spPr>
          <a:xfrm>
            <a:off x="609600" y="-27122"/>
            <a:ext cx="6547611" cy="1128770"/>
          </a:xfrm>
          <a:prstGeom prst="rect">
            <a:avLst/>
          </a:prstGeom>
        </p:spPr>
        <p:txBody>
          <a:bodyPr vert="horz" wrap="square" lIns="0" tIns="569213" rIns="0" bIns="0" rtlCol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3600" dirty="0">
                <a:solidFill>
                  <a:srgbClr val="92D050"/>
                </a:solidFill>
              </a:rPr>
              <a:t>Requirements for TypeScript</a:t>
            </a:r>
            <a:endParaRPr lang="en-US" sz="3500" kern="0" spc="-10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91937-8F86-9D7E-5847-A65B2CD71DE7}"/>
              </a:ext>
            </a:extLst>
          </p:cNvPr>
          <p:cNvSpPr txBox="1"/>
          <p:nvPr/>
        </p:nvSpPr>
        <p:spPr>
          <a:xfrm>
            <a:off x="457200" y="1600200"/>
            <a:ext cx="9906000" cy="3299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allows JavaScript to run outside the browser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.TypeScript depends on Node.js tools during development.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provides: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Environment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npm Package Manager</a:t>
            </a:r>
            <a:r>
              <a:rPr lang="ar-E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(</a:t>
            </a:r>
            <a:r>
              <a:rPr lang="en-US" sz="2000" dirty="0"/>
              <a:t>Install TypeScript, Install libraries Manage project dependencies)</a:t>
            </a:r>
            <a:endParaRPr lang="ar-E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</a:p>
        </p:txBody>
      </p:sp>
    </p:spTree>
    <p:extLst>
      <p:ext uri="{BB962C8B-B14F-4D97-AF65-F5344CB8AC3E}">
        <p14:creationId xmlns:p14="http://schemas.microsoft.com/office/powerpoint/2010/main" val="131439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3416F-8B1F-2563-29F2-28AF70947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A91B72-6E4E-389C-519C-A051687B7B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14FF719-CC83-BA51-5541-A7079FC79855}"/>
              </a:ext>
            </a:extLst>
          </p:cNvPr>
          <p:cNvGrpSpPr/>
          <p:nvPr/>
        </p:nvGrpSpPr>
        <p:grpSpPr>
          <a:xfrm>
            <a:off x="0" y="-9993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308D785-38B1-1E54-D49E-AA150DD15FAF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CE4078-50F3-09DF-91C2-4AD0C48811C8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E15A493-3154-8859-FF5C-EC18523739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Install node.js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FD6652F-F514-6901-25AD-F001BD78566F}"/>
              </a:ext>
            </a:extLst>
          </p:cNvPr>
          <p:cNvSpPr/>
          <p:nvPr/>
        </p:nvSpPr>
        <p:spPr>
          <a:xfrm>
            <a:off x="477773" y="1677161"/>
            <a:ext cx="10190227" cy="4495039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5DF78-9D92-ABB6-B025-E259B5E27A14}"/>
              </a:ext>
            </a:extLst>
          </p:cNvPr>
          <p:cNvSpPr txBox="1"/>
          <p:nvPr/>
        </p:nvSpPr>
        <p:spPr>
          <a:xfrm>
            <a:off x="928659" y="2057400"/>
            <a:ext cx="6226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https://nodejs.org/en</a:t>
            </a:r>
            <a:r>
              <a:rPr lang="en-US" sz="24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6270D6-C0CA-95EA-2F32-34D5AB3C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121" y="2560158"/>
            <a:ext cx="5741758" cy="327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20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/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Install packages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4960" y="1461746"/>
            <a:ext cx="929640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3B5B8-15AB-2CED-4A62-6AF111024A5A}"/>
              </a:ext>
            </a:extLst>
          </p:cNvPr>
          <p:cNvSpPr txBox="1"/>
          <p:nvPr/>
        </p:nvSpPr>
        <p:spPr>
          <a:xfrm>
            <a:off x="589028" y="1471739"/>
            <a:ext cx="916457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1) </a:t>
            </a:r>
            <a:r>
              <a:rPr lang="en-US" b="0" dirty="0"/>
              <a:t>Check node :</a:t>
            </a:r>
          </a:p>
          <a:p>
            <a:r>
              <a:rPr lang="en-US" b="0" dirty="0">
                <a:solidFill>
                  <a:schemeClr val="tx1"/>
                </a:solidFill>
              </a:rPr>
              <a:t>                                     node  -v</a:t>
            </a:r>
            <a:br>
              <a:rPr lang="en-US" b="0" dirty="0">
                <a:solidFill>
                  <a:schemeClr val="tx1"/>
                </a:solidFill>
              </a:rPr>
            </a:br>
            <a:r>
              <a:rPr lang="en-US" b="0" dirty="0"/>
              <a:t>2) npm package:-</a:t>
            </a:r>
            <a:br>
              <a:rPr lang="en-US" b="0" dirty="0"/>
            </a:br>
            <a:r>
              <a:rPr lang="en-US" b="0" dirty="0">
                <a:solidFill>
                  <a:schemeClr val="tx1"/>
                </a:solidFill>
              </a:rPr>
              <a:t>                                    npm </a:t>
            </a:r>
            <a:r>
              <a:rPr lang="en-US" b="0" dirty="0" err="1">
                <a:solidFill>
                  <a:schemeClr val="tx1"/>
                </a:solidFill>
              </a:rPr>
              <a:t>init</a:t>
            </a: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/>
              <a:t>3) Go to typescript website to install it:  </a:t>
            </a:r>
            <a:r>
              <a:rPr lang="en-US" b="0" dirty="0">
                <a:hlinkClick r:id="rId2"/>
              </a:rPr>
              <a:t>https://www.typescriptlang.org/</a:t>
            </a:r>
            <a:endParaRPr lang="en-US" b="0" dirty="0"/>
          </a:p>
          <a:p>
            <a:pPr marL="1371600" lvl="8"/>
            <a:r>
              <a:rPr lang="en-US" sz="2200" dirty="0"/>
              <a:t>	npm install typescript --save-dev</a:t>
            </a:r>
            <a:endParaRPr lang="ar-EG" sz="2200" dirty="0"/>
          </a:p>
          <a:p>
            <a:pPr marL="1371600" lvl="8"/>
            <a:r>
              <a:rPr lang="ar-EG" sz="2200" dirty="0"/>
              <a:t>      </a:t>
            </a:r>
            <a:r>
              <a:rPr lang="en-US" sz="2200" dirty="0"/>
              <a:t>npm install -g typescript</a:t>
            </a:r>
          </a:p>
          <a:p>
            <a:pPr marL="1371600" lvl="8"/>
            <a:r>
              <a:rPr lang="en-US" sz="2200" dirty="0"/>
              <a:t>        npm i</a:t>
            </a:r>
          </a:p>
          <a:p>
            <a:r>
              <a:rPr lang="en-US" b="0" dirty="0"/>
              <a:t>4) To start typescript:-</a:t>
            </a:r>
            <a:br>
              <a:rPr lang="en-US" b="0" dirty="0"/>
            </a:br>
            <a:r>
              <a:rPr lang="en-US" b="0" dirty="0"/>
              <a:t>		</a:t>
            </a:r>
            <a:r>
              <a:rPr lang="en-US" b="0" dirty="0">
                <a:solidFill>
                  <a:schemeClr val="tx1"/>
                </a:solidFill>
              </a:rPr>
              <a:t>        </a:t>
            </a:r>
            <a:r>
              <a:rPr lang="en-US" b="0" dirty="0" err="1">
                <a:solidFill>
                  <a:schemeClr val="tx1"/>
                </a:solidFill>
              </a:rPr>
              <a:t>tsc</a:t>
            </a:r>
            <a:r>
              <a:rPr lang="en-US" b="0" dirty="0">
                <a:solidFill>
                  <a:schemeClr val="tx1"/>
                </a:solidFill>
              </a:rPr>
              <a:t> --</a:t>
            </a:r>
            <a:r>
              <a:rPr lang="en-US" b="0" dirty="0" err="1">
                <a:solidFill>
                  <a:schemeClr val="tx1"/>
                </a:solidFill>
              </a:rPr>
              <a:t>init</a:t>
            </a: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/>
              <a:t>5) Transpillation:-</a:t>
            </a:r>
          </a:p>
          <a:p>
            <a:pPr lvl="5"/>
            <a:r>
              <a:rPr lang="en-US" sz="2200" dirty="0" err="1"/>
              <a:t>npx</a:t>
            </a:r>
            <a:r>
              <a:rPr lang="en-US" sz="2200" dirty="0"/>
              <a:t> </a:t>
            </a:r>
            <a:r>
              <a:rPr lang="en-US" sz="2200" dirty="0" err="1"/>
              <a:t>tsc</a:t>
            </a:r>
            <a:endParaRPr lang="en-US" sz="2200" dirty="0"/>
          </a:p>
          <a:p>
            <a:pPr lvl="5"/>
            <a:r>
              <a:rPr lang="en-US" sz="2200" dirty="0" err="1"/>
              <a:t>tsc</a:t>
            </a:r>
            <a:r>
              <a:rPr lang="en-US" sz="2200" dirty="0"/>
              <a:t> –w</a:t>
            </a:r>
            <a:r>
              <a:rPr lang="en-US" dirty="0"/>
              <a:t> </a:t>
            </a:r>
          </a:p>
          <a:p>
            <a:r>
              <a:rPr lang="en-US" b="0" dirty="0"/>
              <a:t>6) Run file :-</a:t>
            </a:r>
            <a:br>
              <a:rPr lang="en-US" b="0" dirty="0"/>
            </a:br>
            <a:r>
              <a:rPr lang="en-US" b="0" dirty="0"/>
              <a:t>                                  </a:t>
            </a:r>
            <a:r>
              <a:rPr lang="en-US" b="0" dirty="0">
                <a:solidFill>
                  <a:schemeClr val="tx1"/>
                </a:solidFill>
              </a:rPr>
              <a:t>node </a:t>
            </a:r>
            <a:r>
              <a:rPr lang="en-US" b="0" dirty="0" err="1">
                <a:solidFill>
                  <a:schemeClr val="tx1"/>
                </a:solidFill>
              </a:rPr>
              <a:t>dist</a:t>
            </a:r>
            <a:r>
              <a:rPr lang="en-US" b="0" dirty="0">
                <a:solidFill>
                  <a:schemeClr val="tx1"/>
                </a:solidFill>
              </a:rPr>
              <a:t>/index.js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3F7EE-AAAB-67E6-2F33-B084F7F5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B69FC0-0F33-547A-2606-DA294A27B8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FA560F7-E2F9-A103-9BAA-68C9FA03A092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A458D7E-86B9-D0D1-727C-C48E2D71AA3B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AAF259E-30D4-F62B-B7FB-B87A2AA0FB3E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C7824F-424D-074C-8DBD-99E8B645F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CD38E35-3347-3B4C-D471-252F792D0EA1}"/>
              </a:ext>
            </a:extLst>
          </p:cNvPr>
          <p:cNvSpPr/>
          <p:nvPr/>
        </p:nvSpPr>
        <p:spPr>
          <a:xfrm>
            <a:off x="314960" y="1461746"/>
            <a:ext cx="929640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7FE45-BEAE-F67B-AECB-09CBF048FD22}"/>
              </a:ext>
            </a:extLst>
          </p:cNvPr>
          <p:cNvSpPr txBox="1"/>
          <p:nvPr/>
        </p:nvSpPr>
        <p:spPr>
          <a:xfrm>
            <a:off x="599187" y="1634705"/>
            <a:ext cx="91645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Data types define:</a:t>
            </a:r>
          </a:p>
          <a:p>
            <a:r>
              <a:rPr lang="ar-EG" b="0" dirty="0">
                <a:solidFill>
                  <a:schemeClr val="tx1"/>
                </a:solidFill>
              </a:rPr>
              <a:t>           </a:t>
            </a:r>
            <a:r>
              <a:rPr lang="en-US" b="0" dirty="0">
                <a:solidFill>
                  <a:schemeClr val="tx1"/>
                </a:solidFill>
              </a:rPr>
              <a:t>What kind of value a variable can store</a:t>
            </a:r>
            <a:endParaRPr lang="ar-EG" b="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Main Basic Types</a:t>
            </a:r>
          </a:p>
          <a:p>
            <a:r>
              <a:rPr lang="en-US" b="0" dirty="0">
                <a:solidFill>
                  <a:schemeClr val="tx1"/>
                </a:solidFill>
              </a:rPr>
              <a:t>TypeScript basic data types include:</a:t>
            </a:r>
          </a:p>
          <a:p>
            <a:pPr lvl="1"/>
            <a:r>
              <a:rPr lang="en-US" b="0" dirty="0">
                <a:solidFill>
                  <a:schemeClr val="tx1"/>
                </a:solidFill>
              </a:rPr>
              <a:t>number </a:t>
            </a:r>
          </a:p>
          <a:p>
            <a:pPr lvl="1"/>
            <a:r>
              <a:rPr lang="en-US" b="0" dirty="0">
                <a:solidFill>
                  <a:schemeClr val="tx1"/>
                </a:solidFill>
              </a:rPr>
              <a:t>string </a:t>
            </a:r>
          </a:p>
          <a:p>
            <a:pPr lvl="1"/>
            <a:r>
              <a:rPr lang="en-US" b="0" dirty="0">
                <a:solidFill>
                  <a:schemeClr val="tx1"/>
                </a:solidFill>
              </a:rPr>
              <a:t>boolean </a:t>
            </a:r>
          </a:p>
          <a:p>
            <a:pPr lvl="1"/>
            <a:r>
              <a:rPr lang="en-US" b="0" dirty="0">
                <a:solidFill>
                  <a:schemeClr val="tx1"/>
                </a:solidFill>
              </a:rPr>
              <a:t>any </a:t>
            </a:r>
          </a:p>
          <a:p>
            <a:pPr lvl="1"/>
            <a:r>
              <a:rPr lang="en-US" b="0" dirty="0">
                <a:solidFill>
                  <a:schemeClr val="tx1"/>
                </a:solidFill>
              </a:rPr>
              <a:t>unknown </a:t>
            </a:r>
          </a:p>
          <a:p>
            <a:pPr lvl="1"/>
            <a:r>
              <a:rPr lang="en-US" b="0" dirty="0">
                <a:solidFill>
                  <a:schemeClr val="tx1"/>
                </a:solidFill>
              </a:rPr>
              <a:t>void </a:t>
            </a:r>
          </a:p>
          <a:p>
            <a:pPr lvl="1"/>
            <a:r>
              <a:rPr lang="en-US" b="0" dirty="0">
                <a:solidFill>
                  <a:schemeClr val="tx1"/>
                </a:solidFill>
              </a:rPr>
              <a:t>null </a:t>
            </a:r>
          </a:p>
          <a:p>
            <a:pPr lvl="1"/>
            <a:r>
              <a:rPr lang="en-US" b="0" dirty="0">
                <a:solidFill>
                  <a:schemeClr val="tx1"/>
                </a:solidFill>
              </a:rPr>
              <a:t>undefined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285150-2644-3B62-ED63-F3B10BF13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505200"/>
            <a:ext cx="4709162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4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76CD8-9C51-E230-47F4-9E2EA169A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801CD7-8940-81F4-794D-F623BC725F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2BEFD4F-1C25-76CD-23D2-94F1613AF132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C1399E7-23C1-046C-DD71-0AD51499363B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78F4F36-6184-6AD6-16BB-E8014C838B01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CA1F1F2-07B7-B53E-E592-1A580EFA3C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E144964-B243-9758-8545-48DE5B396433}"/>
              </a:ext>
            </a:extLst>
          </p:cNvPr>
          <p:cNvSpPr/>
          <p:nvPr/>
        </p:nvSpPr>
        <p:spPr>
          <a:xfrm>
            <a:off x="314960" y="1461746"/>
            <a:ext cx="10048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9E19E-30B4-BE26-5741-665E2461BA4C}"/>
              </a:ext>
            </a:extLst>
          </p:cNvPr>
          <p:cNvSpPr txBox="1"/>
          <p:nvPr/>
        </p:nvSpPr>
        <p:spPr>
          <a:xfrm>
            <a:off x="589029" y="1471739"/>
            <a:ext cx="902233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1) number Type:-</a:t>
            </a:r>
            <a:endParaRPr lang="ar-EG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b="0" dirty="0">
                <a:solidFill>
                  <a:schemeClr val="tx1"/>
                </a:solidFill>
              </a:rPr>
              <a:t>The number type is used to store:</a:t>
            </a:r>
          </a:p>
          <a:p>
            <a:pPr lvl="3"/>
            <a:r>
              <a:rPr lang="en-US" b="0" dirty="0">
                <a:solidFill>
                  <a:schemeClr val="tx1"/>
                </a:solidFill>
              </a:rPr>
              <a:t>Integers </a:t>
            </a:r>
          </a:p>
          <a:p>
            <a:pPr lvl="3"/>
            <a:r>
              <a:rPr lang="en-US" b="0" dirty="0">
                <a:solidFill>
                  <a:schemeClr val="tx1"/>
                </a:solidFill>
              </a:rPr>
              <a:t>Floating-point numbers </a:t>
            </a:r>
            <a:endParaRPr lang="ar-EG" b="0" dirty="0">
              <a:solidFill>
                <a:schemeClr val="tx1"/>
              </a:solidFill>
            </a:endParaRPr>
          </a:p>
          <a:p>
            <a:pPr lvl="3"/>
            <a:r>
              <a:rPr lang="en-US" b="0" dirty="0">
                <a:solidFill>
                  <a:schemeClr val="tx1"/>
                </a:solidFill>
              </a:rPr>
              <a:t>Negative numbers</a:t>
            </a: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8EC0AD-51A3-F972-D06E-56562CE75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713127"/>
            <a:ext cx="3846879" cy="8598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DA63E1-0B66-48AD-E262-7A21D4B44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313" y="2539470"/>
            <a:ext cx="3848061" cy="5284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444FB2-C908-587A-6253-0520EA94A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313" y="3047053"/>
            <a:ext cx="3857166" cy="6595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2ED6A6-7F5B-7B06-33CB-0957669A3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25472"/>
            <a:ext cx="5504255" cy="2110375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A8515AC4-7FAE-54F7-FA59-8351B71EAC0F}"/>
              </a:ext>
            </a:extLst>
          </p:cNvPr>
          <p:cNvSpPr/>
          <p:nvPr/>
        </p:nvSpPr>
        <p:spPr>
          <a:xfrm>
            <a:off x="8753039" y="3335521"/>
            <a:ext cx="734227" cy="2776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CF76FA-1A0E-FAA1-38CF-5ED14C0A7311}"/>
              </a:ext>
            </a:extLst>
          </p:cNvPr>
          <p:cNvSpPr txBox="1"/>
          <p:nvPr/>
        </p:nvSpPr>
        <p:spPr>
          <a:xfrm>
            <a:off x="9484195" y="3288781"/>
            <a:ext cx="713122" cy="371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NAN</a:t>
            </a:r>
          </a:p>
        </p:txBody>
      </p:sp>
    </p:spTree>
    <p:extLst>
      <p:ext uri="{BB962C8B-B14F-4D97-AF65-F5344CB8AC3E}">
        <p14:creationId xmlns:p14="http://schemas.microsoft.com/office/powerpoint/2010/main" val="141829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C688-A992-D682-26D6-0CCB3345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446EB8-6F50-DA6B-A811-39C28515FC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405980F-F10E-F8C7-18CF-27CFA9CBF93D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85C4A74-FEDA-CD9A-5172-5454401ECA55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C06BC3-F864-4BED-58DC-4620D4B79605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E7D6E78-BDBD-C2C0-80CE-001F9A3905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D89E88E-3D8C-F697-B499-AE454C00E3C6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F9EED7-EA68-F9B9-C892-38EABDC43D0C}"/>
              </a:ext>
            </a:extLst>
          </p:cNvPr>
          <p:cNvSpPr txBox="1"/>
          <p:nvPr/>
        </p:nvSpPr>
        <p:spPr>
          <a:xfrm>
            <a:off x="589028" y="1471739"/>
            <a:ext cx="916457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2) String Type:</a:t>
            </a:r>
            <a:endParaRPr lang="ar-EG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The string type is used to store:</a:t>
            </a:r>
          </a:p>
          <a:p>
            <a:pPr lvl="2"/>
            <a:r>
              <a:rPr lang="en-US" b="0" dirty="0">
                <a:solidFill>
                  <a:schemeClr val="tx1"/>
                </a:solidFill>
              </a:rPr>
              <a:t>Text </a:t>
            </a:r>
          </a:p>
          <a:p>
            <a:pPr lvl="2"/>
            <a:r>
              <a:rPr lang="en-US" b="0" dirty="0">
                <a:solidFill>
                  <a:schemeClr val="tx1"/>
                </a:solidFill>
              </a:rPr>
              <a:t>Characters </a:t>
            </a:r>
          </a:p>
          <a:p>
            <a:pPr lvl="2"/>
            <a:r>
              <a:rPr lang="en-US" b="0" dirty="0">
                <a:solidFill>
                  <a:schemeClr val="tx1"/>
                </a:solidFill>
              </a:rPr>
              <a:t>Sentences</a:t>
            </a:r>
          </a:p>
          <a:p>
            <a:pPr lvl="2"/>
            <a:r>
              <a:rPr lang="en-US" b="0" dirty="0">
                <a:solidFill>
                  <a:schemeClr val="tx1"/>
                </a:solidFill>
              </a:rPr>
              <a:t>boolean Type</a:t>
            </a:r>
            <a:endParaRPr lang="ar-EG" b="0" dirty="0">
              <a:solidFill>
                <a:schemeClr val="tx1"/>
              </a:solidFill>
            </a:endParaRPr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985987-D25F-8FF1-DD1D-E540BDC2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160" y="1643129"/>
            <a:ext cx="4533134" cy="958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179B26-9622-AFA8-CDBF-61F472002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47141"/>
            <a:ext cx="4717824" cy="13036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849063-53A9-10C5-7CD7-24062ADE7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19" y="3984530"/>
            <a:ext cx="3744881" cy="11656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91170B-729A-D822-90CE-8B0B791A6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19" y="5208011"/>
            <a:ext cx="3626455" cy="11927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981879-D4F5-AF20-F5C8-42EB03622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196656"/>
            <a:ext cx="4536639" cy="107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78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09B4-366E-56A8-348B-1096E824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F0FB84-5D3B-6783-752B-C7D40D1F37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70F830F-6E77-76F9-3671-36C77F121153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A25B9F9-0FFF-716B-E4DF-26D423ED61D3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33B5D72-4C5B-20B3-3374-9C725DA51B14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0C95F25-38CE-5339-47C2-AD57D90488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87190FC-95BE-4CBE-1E87-C5DE9C9B63EE}"/>
              </a:ext>
            </a:extLst>
          </p:cNvPr>
          <p:cNvSpPr/>
          <p:nvPr/>
        </p:nvSpPr>
        <p:spPr>
          <a:xfrm>
            <a:off x="314960" y="1461746"/>
            <a:ext cx="9591040" cy="3186454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94D01-991B-AF2F-118D-140F10B91E60}"/>
              </a:ext>
            </a:extLst>
          </p:cNvPr>
          <p:cNvSpPr txBox="1"/>
          <p:nvPr/>
        </p:nvSpPr>
        <p:spPr>
          <a:xfrm>
            <a:off x="589028" y="1471739"/>
            <a:ext cx="916457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  <a:cs typeface="+mj-cs"/>
              </a:rPr>
              <a:t>Task :-</a:t>
            </a:r>
          </a:p>
          <a:p>
            <a:endParaRPr lang="ar-EG" dirty="0">
              <a:solidFill>
                <a:srgbClr val="C00000"/>
              </a:solidFill>
              <a:cs typeface="+mj-cs"/>
            </a:endParaRPr>
          </a:p>
          <a:p>
            <a:r>
              <a:rPr lang="en-US" dirty="0">
                <a:solidFill>
                  <a:schemeClr val="tx1"/>
                </a:solidFill>
                <a:cs typeface="+mj-cs"/>
              </a:rPr>
              <a:t>Return the word from long sentence if the first letter contains a vowel </a:t>
            </a:r>
          </a:p>
          <a:p>
            <a:endParaRPr lang="en-US" dirty="0">
              <a:solidFill>
                <a:schemeClr val="tx1"/>
              </a:solidFill>
              <a:cs typeface="+mj-cs"/>
            </a:endParaRPr>
          </a:p>
          <a:p>
            <a:r>
              <a:rPr lang="en-US" dirty="0">
                <a:solidFill>
                  <a:schemeClr val="tx1"/>
                </a:solidFill>
                <a:cs typeface="+mj-cs"/>
              </a:rPr>
              <a:t>Input </a:t>
            </a:r>
            <a:r>
              <a:rPr lang="en-US" b="0" dirty="0"/>
              <a:t> "Apple orange banana";</a:t>
            </a:r>
          </a:p>
          <a:p>
            <a:r>
              <a:rPr lang="en-US" dirty="0">
                <a:solidFill>
                  <a:schemeClr val="tx1"/>
                </a:solidFill>
                <a:cs typeface="+mj-cs"/>
              </a:rPr>
              <a:t>Output </a:t>
            </a:r>
            <a:r>
              <a:rPr lang="en-US" b="0" dirty="0"/>
              <a:t>" Apple orange"</a:t>
            </a:r>
            <a:endParaRPr lang="ar-EG" b="0" dirty="0"/>
          </a:p>
          <a:p>
            <a:endParaRPr lang="ar-EG" dirty="0"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en-US" dirty="0">
              <a:cs typeface="+mj-cs"/>
            </a:endParaRPr>
          </a:p>
          <a:p>
            <a:endParaRPr lang="en-US" dirty="0">
              <a:solidFill>
                <a:schemeClr val="tx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298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F6FBB-A100-A331-DC5C-4674F71D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6A700A-C9A5-EB77-4E1D-B41784DE8D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2BD421F-6E0C-F222-3A19-97BE8F0332DF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F76759-23A4-DCE9-ACAD-B0ED58F2032C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FA18EB-8500-8E4F-F020-2F368A85771B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EBA251E-177C-E1E4-6272-7BA81D264D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FD6F73D-EFDD-FE51-90AA-A575372612B5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F3D91-8A67-08E0-9A7B-CBA5CD232C3F}"/>
              </a:ext>
            </a:extLst>
          </p:cNvPr>
          <p:cNvSpPr txBox="1"/>
          <p:nvPr/>
        </p:nvSpPr>
        <p:spPr>
          <a:xfrm>
            <a:off x="589028" y="1471739"/>
            <a:ext cx="91645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  <a:cs typeface="+mj-cs"/>
              </a:rPr>
              <a:t>Task :-</a:t>
            </a:r>
          </a:p>
          <a:p>
            <a:endParaRPr lang="ar-EG" dirty="0">
              <a:solidFill>
                <a:srgbClr val="C00000"/>
              </a:solidFill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ar-EG" dirty="0">
              <a:cs typeface="+mj-cs"/>
            </a:endParaRPr>
          </a:p>
          <a:p>
            <a:endParaRPr lang="en-US" dirty="0">
              <a:cs typeface="+mj-cs"/>
            </a:endParaRPr>
          </a:p>
          <a:p>
            <a:endParaRPr lang="en-US" dirty="0">
              <a:solidFill>
                <a:schemeClr val="tx1"/>
              </a:solidFill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1BDF71-7E5A-711C-9C96-9FB71BC70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93" y="1950195"/>
            <a:ext cx="9164573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07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8269C-9176-6E41-4783-E3667F15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FE2636-89EE-5DF4-D773-E8AE3FA35B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A994CC8-A4CF-26B5-F6EF-5F621A7B6669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77BCFF1-86E0-CAE9-BC23-E8D5E6DBE9C5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FC39747-ACF9-64E3-3256-4C553ABCD166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D23C77D-2932-FB79-1843-DAC9B4879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F539BD0-DA66-67B4-5D79-AF7F99F3A857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D362E-4777-4FE6-620F-05EAEF52B618}"/>
              </a:ext>
            </a:extLst>
          </p:cNvPr>
          <p:cNvSpPr txBox="1"/>
          <p:nvPr/>
        </p:nvSpPr>
        <p:spPr>
          <a:xfrm>
            <a:off x="589028" y="1471739"/>
            <a:ext cx="916457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3) Boolean Type:</a:t>
            </a:r>
            <a:endParaRPr lang="ar-EG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The boolean type stores only two values: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True 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false</a:t>
            </a:r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8E81C6-72CA-7F7E-2D06-FA31AF7D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445" y="2517250"/>
            <a:ext cx="4159944" cy="6311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302148-964C-F162-F74A-951423063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445" y="3140525"/>
            <a:ext cx="4186393" cy="5553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3708FB-CFA8-2F45-BAB0-D70868444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45" y="3705856"/>
            <a:ext cx="3196155" cy="14002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CAFBA9B-0F0C-261F-6BBA-2FFABCA92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45" y="5182319"/>
            <a:ext cx="3479001" cy="11920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10823D-D22D-6DBC-4E69-EDBCF0BEB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931" y="3985025"/>
            <a:ext cx="3753374" cy="193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4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45EEA-4AD5-DB3A-604F-5D922AA3F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A17645-1EA3-85E0-C058-B36FEDE16E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647650A-3D61-BF26-9B8C-F0EFC3A4D8A6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5120E06-F5A4-0ABB-75B7-72FECF6F1EBE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BA1FDF2-C8E1-EF94-62FC-5B9B203B2443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7E0A1A4-3056-8E66-42D6-CB9CF9915B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04C6FD2-590B-5B6E-D66F-0D99B7EB19E3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3814C-B595-1322-C6DF-E4F7A20F7404}"/>
              </a:ext>
            </a:extLst>
          </p:cNvPr>
          <p:cNvSpPr txBox="1"/>
          <p:nvPr/>
        </p:nvSpPr>
        <p:spPr>
          <a:xfrm>
            <a:off x="499949" y="1619023"/>
            <a:ext cx="916457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ar-EG" dirty="0">
                <a:solidFill>
                  <a:schemeClr val="tx1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) any Type:   </a:t>
            </a:r>
            <a:r>
              <a:rPr lang="en-US" b="0" dirty="0">
                <a:solidFill>
                  <a:schemeClr val="tx1"/>
                </a:solidFill>
              </a:rPr>
              <a:t>the any type disables TypeScript type checking for a variable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5) unknown Type</a:t>
            </a:r>
            <a:r>
              <a:rPr lang="ar-EG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-</a:t>
            </a:r>
          </a:p>
          <a:p>
            <a:r>
              <a:rPr lang="en-US" b="0" dirty="0">
                <a:solidFill>
                  <a:schemeClr val="tx1"/>
                </a:solidFill>
              </a:rPr>
              <a:t>unknown is a safer alternative to any.</a:t>
            </a:r>
          </a:p>
          <a:p>
            <a:r>
              <a:rPr lang="en-US" b="0" dirty="0">
                <a:solidFill>
                  <a:schemeClr val="tx1"/>
                </a:solidFill>
              </a:rPr>
              <a:t>It allows storing any value, BUT:</a:t>
            </a:r>
          </a:p>
          <a:p>
            <a:r>
              <a:rPr lang="en-US" b="0" dirty="0">
                <a:solidFill>
                  <a:schemeClr val="tx1"/>
                </a:solidFill>
              </a:rPr>
              <a:t>TypeScript forces you to check the type before using it</a:t>
            </a:r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ABC8AA-D96F-16F9-CD03-FF818CDB6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400504"/>
            <a:ext cx="4113656" cy="15923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AAB9E9-F53F-59C4-6134-9AC36255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457" y="5001913"/>
            <a:ext cx="3554175" cy="15738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7FFC37-5F43-DC04-213B-CD369851F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335" y="5093881"/>
            <a:ext cx="3554175" cy="145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58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3D3B-1564-4D2A-3814-5C9311A4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CA4176-DC12-91F9-51A9-9D6BCA9803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21A063B-2B60-418F-E606-06420BA7CA8E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70E2D3C-1649-CADB-31FA-B660C7C46837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7EFAD2B-E250-E9A3-7B6A-3157429A5134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0267A5B-DD42-601C-B562-114CC5C23F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858209F-CECA-951B-498D-B05AE49F9FDE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C1E70-23D4-898C-6B96-2E2E0F0EB027}"/>
              </a:ext>
            </a:extLst>
          </p:cNvPr>
          <p:cNvSpPr txBox="1"/>
          <p:nvPr/>
        </p:nvSpPr>
        <p:spPr>
          <a:xfrm>
            <a:off x="528193" y="1686461"/>
            <a:ext cx="916457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ar-EG" dirty="0">
                <a:solidFill>
                  <a:schemeClr val="tx1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</a:rPr>
              <a:t>) void Type:-</a:t>
            </a:r>
          </a:p>
          <a:p>
            <a:r>
              <a:rPr lang="en-US" b="0" dirty="0">
                <a:solidFill>
                  <a:schemeClr val="tx1"/>
                </a:solidFill>
              </a:rPr>
              <a:t>"No return value"</a:t>
            </a:r>
            <a:endParaRPr lang="ar-EG" b="0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00C6E5-104F-1E51-4505-88FCFE5DF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901554"/>
            <a:ext cx="4428386" cy="8102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BA068E-309C-6E5B-8E27-23C65EEB8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813483"/>
            <a:ext cx="4428386" cy="9334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BC3B12-C80A-161F-6A14-0F07C5B77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95986"/>
            <a:ext cx="4887510" cy="9539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52D91B-16C0-0C8C-1722-CF2F8C4A9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120" y="3793637"/>
            <a:ext cx="3357880" cy="12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22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F1ADC-349A-33FD-3709-87CA77DD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40639E-28F6-154A-9946-900D108D28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E52FB0D-B4D6-E18D-D0C7-F2252683CC6E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3592059-B252-4D1A-84E4-75D893AE09FF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19CE50-19D9-A9D1-E4F6-571D5A25D35B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4E7D3BC-74D8-5F11-9C2A-5F72A3DE8D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F211951-604B-5EDB-C109-2AFDEF633BC1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F5461E-E101-39FD-BF21-7523616BCE90}"/>
              </a:ext>
            </a:extLst>
          </p:cNvPr>
          <p:cNvSpPr txBox="1"/>
          <p:nvPr/>
        </p:nvSpPr>
        <p:spPr>
          <a:xfrm>
            <a:off x="528193" y="1686461"/>
            <a:ext cx="9164573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ar-EG" dirty="0">
                <a:solidFill>
                  <a:schemeClr val="tx1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) null and undefined</a:t>
            </a:r>
            <a:r>
              <a:rPr lang="ar-EG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-</a:t>
            </a:r>
          </a:p>
          <a:p>
            <a:r>
              <a:rPr lang="en-US" b="0" dirty="0">
                <a:solidFill>
                  <a:schemeClr val="tx1"/>
                </a:solidFill>
              </a:rPr>
              <a:t>Both represent: absence of value</a:t>
            </a:r>
          </a:p>
          <a:p>
            <a:r>
              <a:rPr lang="en-US" dirty="0">
                <a:solidFill>
                  <a:schemeClr val="tx1"/>
                </a:solidFill>
              </a:rPr>
              <a:t>undefined means:</a:t>
            </a:r>
          </a:p>
          <a:p>
            <a:r>
              <a:rPr lang="en-US" b="0" dirty="0">
                <a:solidFill>
                  <a:schemeClr val="tx1"/>
                </a:solidFill>
              </a:rPr>
              <a:t>	A variable has been declared but not assigned </a:t>
            </a:r>
            <a:r>
              <a:rPr lang="en-US" dirty="0">
                <a:solidFill>
                  <a:schemeClr val="tx1"/>
                </a:solidFill>
              </a:rPr>
              <a:t>a value yet.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null means:</a:t>
            </a:r>
          </a:p>
          <a:p>
            <a:r>
              <a:rPr lang="en-US" b="0" dirty="0">
                <a:solidFill>
                  <a:schemeClr val="tx1"/>
                </a:solidFill>
              </a:rPr>
              <a:t>	An intentional empty value.</a:t>
            </a:r>
          </a:p>
          <a:p>
            <a:endParaRPr lang="en-US" dirty="0"/>
          </a:p>
          <a:p>
            <a:endParaRPr lang="ar-EG" b="0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79D7CE-31DD-DC21-721B-08ACFD733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502" y="5754732"/>
            <a:ext cx="4108456" cy="5622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E0D752-D967-9506-594A-EE24D83AB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502" y="5091784"/>
            <a:ext cx="3803006" cy="6089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FF61D9-9E12-C544-4FCB-81D42A0FA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502" y="3441811"/>
            <a:ext cx="3560977" cy="6089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A6753C-D42B-A912-C258-A5BAAC8DD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959" y="3408012"/>
            <a:ext cx="3033127" cy="98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71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6324-6C57-2F54-0EF4-C2514E25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4858DB-7377-33B8-3EED-5D5796B52A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432CCBE-8027-9A15-6492-6927ED9E6A5F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776AFE6-C56D-23EF-3F44-AFBB82B8E7C4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0C64FF-4536-7E44-1504-9BEA8DF8D879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9644BCB-0ECF-0BD8-570C-93FB866F19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EE7D7B0-9C30-4569-C729-F3AB37A5D6FC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06D321-3A66-C099-9A1E-56B077390124}"/>
              </a:ext>
            </a:extLst>
          </p:cNvPr>
          <p:cNvSpPr txBox="1"/>
          <p:nvPr/>
        </p:nvSpPr>
        <p:spPr>
          <a:xfrm>
            <a:off x="528193" y="1686461"/>
            <a:ext cx="91645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ar-EG" dirty="0">
                <a:solidFill>
                  <a:schemeClr val="tx1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)Array </a:t>
            </a:r>
            <a:r>
              <a:rPr lang="ar-EG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-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1DDE01-19EC-70ED-CAC2-4FAE1507E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10" y="2426373"/>
            <a:ext cx="3986290" cy="4710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30C817-5A43-C6E4-CA65-9A15CE537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70" y="2953646"/>
            <a:ext cx="5487089" cy="4524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86B26D-5B7C-00E0-0781-AD031A448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08" y="3495017"/>
            <a:ext cx="3887692" cy="4238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AA9138-73DE-9009-5777-6FBBF14A8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70" y="4022153"/>
            <a:ext cx="4577668" cy="3269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8C6F6CD-C636-CFE8-2613-4640700B8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766" y="5410416"/>
            <a:ext cx="5934903" cy="8383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1EBD4D-9E5F-934F-6244-552E39E7ED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766" y="4409961"/>
            <a:ext cx="4677428" cy="9526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425EDD-8470-7D93-963D-BAF1472AEC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0913"/>
          <a:stretch>
            <a:fillRect/>
          </a:stretch>
        </p:blipFill>
        <p:spPr>
          <a:xfrm>
            <a:off x="6211469" y="3306962"/>
            <a:ext cx="3084931" cy="143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56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B16F-6918-6784-656F-DA666E4C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DA80FF-5256-D7F3-2DDA-8F1672188F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030193-A1BA-2341-2B5B-D84B3D03288E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8EBF8CE-F562-D109-CE1C-3DED9F54464A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8094912-8B42-F302-1AC0-51102C15A707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FF448F4-D210-ACFC-281F-EAC5CDB7C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C6D2051-198F-195F-D6DC-4EAB72A1DC6C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49349-3212-7B23-7629-AF727502836E}"/>
              </a:ext>
            </a:extLst>
          </p:cNvPr>
          <p:cNvSpPr txBox="1"/>
          <p:nvPr/>
        </p:nvSpPr>
        <p:spPr>
          <a:xfrm>
            <a:off x="528193" y="1686461"/>
            <a:ext cx="91645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ar-EG" dirty="0">
                <a:solidFill>
                  <a:schemeClr val="tx1"/>
                </a:solidFill>
              </a:rPr>
              <a:t>8</a:t>
            </a:r>
            <a:r>
              <a:rPr lang="en-US" dirty="0">
                <a:solidFill>
                  <a:schemeClr val="tx1"/>
                </a:solidFill>
              </a:rPr>
              <a:t>)tuple </a:t>
            </a:r>
            <a:r>
              <a:rPr lang="ar-EG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-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CD624-394C-2EA7-7533-3055B986935F}"/>
              </a:ext>
            </a:extLst>
          </p:cNvPr>
          <p:cNvSpPr txBox="1"/>
          <p:nvPr/>
        </p:nvSpPr>
        <p:spPr>
          <a:xfrm>
            <a:off x="512953" y="24384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tuple is a special type of array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elements is fixed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type of each element is fixed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matters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7D441F-6D04-6AFB-0D6A-918929CEE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08" y="3698179"/>
            <a:ext cx="4800600" cy="6255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17D201-DE1E-6D1F-0CA0-8CF56B39E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21" y="4448439"/>
            <a:ext cx="5918262" cy="5621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FF438D-7645-D1E6-AE4D-0B9010D7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1766680"/>
            <a:ext cx="5987966" cy="54206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2C39538-EB5E-3F2F-6418-15EB5EA29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21" y="5155655"/>
            <a:ext cx="5093832" cy="5621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998B60D-A2DE-DC43-0C23-EC539CA210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400" y="2775465"/>
            <a:ext cx="3479800" cy="12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48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0C59-F2A9-0FC6-4AD7-3CC976AF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8FA2F4-318E-69A2-589F-7FA3EDCD6C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4CAE953-9643-B183-B943-0A0A33D55A3F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5E90AF4-64A0-7DFF-D6BF-47C384CC3DB5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28D705E-0328-8B5E-9A68-CF801B708D42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7CB1297-724D-3CF9-7676-6805AFA02E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7AB8250-405D-6459-690E-0AFCC309833D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E5C8E-E4AC-04C9-7019-34F35BC8AFB9}"/>
              </a:ext>
            </a:extLst>
          </p:cNvPr>
          <p:cNvSpPr txBox="1"/>
          <p:nvPr/>
        </p:nvSpPr>
        <p:spPr>
          <a:xfrm>
            <a:off x="528193" y="1686461"/>
            <a:ext cx="91645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9) Enums </a:t>
            </a:r>
            <a:r>
              <a:rPr lang="ar-EG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-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C3F6C8-0D65-4374-BF18-7DA629F40D61}"/>
              </a:ext>
            </a:extLst>
          </p:cNvPr>
          <p:cNvSpPr txBox="1"/>
          <p:nvPr/>
        </p:nvSpPr>
        <p:spPr>
          <a:xfrm>
            <a:off x="512953" y="24384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Enumeration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developers to create: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group of named constant values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6B9C61-2A35-FCCA-0DFC-C2ECC826C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84" y="1676468"/>
            <a:ext cx="2800847" cy="13651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CAD5C5-6732-0BDC-CABC-178E759A5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911" y="3222753"/>
            <a:ext cx="2456418" cy="19587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46BD73-73DE-E9E8-A9FF-B5688E096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306" y="3562658"/>
            <a:ext cx="2217026" cy="15601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9EBE30-418C-F323-0001-E2FCBD950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748" y="1667853"/>
            <a:ext cx="2281017" cy="15601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2118D8B-056E-C13C-624F-D5F2B70A0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552" y="3612870"/>
            <a:ext cx="3010320" cy="79068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45B83B1-6FFE-04D0-F088-10F1FA878C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12" y="4603986"/>
            <a:ext cx="2617978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9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55D5-4133-5EDF-DC74-C44204EB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EF6405-895D-8654-C9B5-67D4ADCA1B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2537F12-852F-D51D-B3B4-555A4CBA961E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B2957E1-A182-6C97-1D05-82C2C4B2C43C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16D24E1-FFEA-BB51-5196-30DA1194B73D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8C4B9CA-9165-2333-3388-AAF1C981B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7929FB5-920F-214C-8723-99EE1B4C64D4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8546E0-7AF5-ABBD-1A2A-1F6DF40AB5E6}"/>
              </a:ext>
            </a:extLst>
          </p:cNvPr>
          <p:cNvSpPr txBox="1"/>
          <p:nvPr/>
        </p:nvSpPr>
        <p:spPr>
          <a:xfrm>
            <a:off x="528193" y="1686461"/>
            <a:ext cx="91645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Explicit Typing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9) object </a:t>
            </a:r>
            <a:r>
              <a:rPr lang="ar-EG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-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>
              <a:solidFill>
                <a:schemeClr val="tx1"/>
              </a:solidFill>
            </a:endParaRPr>
          </a:p>
          <a:p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2232B1-A1BC-6D53-D686-3CD24CEC7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78" y="2617270"/>
            <a:ext cx="3347121" cy="25789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DB5979-02FA-A8AB-F4B2-6719729FD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12" y="1838575"/>
            <a:ext cx="2590800" cy="15573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3E752B-FA8A-561B-06C7-DDD5F8219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212" y="3630289"/>
            <a:ext cx="3811591" cy="240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49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073E-EAAE-5B53-0FCC-2AB370BC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44D483-4EE0-30BC-D9FC-B6CB096F46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BEB78B4-A3BD-7443-1744-5F04B712985F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A852F16-9498-3542-0A35-E064ADF0A853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4C74B0F-93C5-7546-410E-6B95FD42B844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1B7D7DE-F568-43E2-A88C-6D03C28A5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A4A3F3F-1901-AF2A-7F4D-0A1595A40619}"/>
              </a:ext>
            </a:extLst>
          </p:cNvPr>
          <p:cNvSpPr/>
          <p:nvPr/>
        </p:nvSpPr>
        <p:spPr>
          <a:xfrm>
            <a:off x="314960" y="1461746"/>
            <a:ext cx="929640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C8CD3-842D-89A7-9C94-3DFDD6EED6E9}"/>
              </a:ext>
            </a:extLst>
          </p:cNvPr>
          <p:cNvSpPr txBox="1"/>
          <p:nvPr/>
        </p:nvSpPr>
        <p:spPr>
          <a:xfrm>
            <a:off x="589028" y="1471739"/>
            <a:ext cx="916457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Type Inference</a:t>
            </a:r>
            <a:endParaRPr lang="ar-EG" dirty="0">
              <a:solidFill>
                <a:srgbClr val="C00000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         TypeScript automatically understands</a:t>
            </a:r>
            <a:r>
              <a:rPr lang="en-US" dirty="0"/>
              <a:t>:</a:t>
            </a:r>
            <a:endParaRPr lang="ar-EG" dirty="0"/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9190BE-A2E7-307B-6561-484EEA388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15602"/>
            <a:ext cx="3391334" cy="5341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D3F5DD-89C8-9119-83C9-E150A3734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41" y="3558954"/>
            <a:ext cx="3536516" cy="7811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80AC11-5218-57D4-8CEC-AAE0F08CB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741" y="2949432"/>
            <a:ext cx="1877859" cy="5648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5A87A9B-31A5-F9C5-30C3-34C7521D1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220" y="4462456"/>
            <a:ext cx="3266437" cy="12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75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62C7-6CB9-C311-68B8-CCB92553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6D55E3-B731-7118-63EC-A69E113554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52A07B5-A8C6-D5DB-2C37-89D1080EC035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0ED5AFA-003F-2B96-2499-1BDD8F1678C5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192C181-762A-4C17-3432-2CA2C98BDD2E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42B566A-4520-14F3-9CC6-B19F12074E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947F07-E211-D260-7F52-E147A7E71690}"/>
              </a:ext>
            </a:extLst>
          </p:cNvPr>
          <p:cNvSpPr/>
          <p:nvPr/>
        </p:nvSpPr>
        <p:spPr>
          <a:xfrm>
            <a:off x="314960" y="1461746"/>
            <a:ext cx="95910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4EF8C2-3D4F-656F-D7CE-0816C423D988}"/>
              </a:ext>
            </a:extLst>
          </p:cNvPr>
          <p:cNvSpPr txBox="1"/>
          <p:nvPr/>
        </p:nvSpPr>
        <p:spPr>
          <a:xfrm>
            <a:off x="528193" y="1686461"/>
            <a:ext cx="91645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Union Types in TypeScript</a:t>
            </a:r>
            <a:endParaRPr lang="ar-EG" dirty="0">
              <a:solidFill>
                <a:srgbClr val="C00000"/>
              </a:solidFill>
            </a:endParaRPr>
          </a:p>
          <a:p>
            <a:endParaRPr lang="ar-EG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DFD51F-94C8-5E43-15AD-B8EE00A0E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05582"/>
            <a:ext cx="2971886" cy="11521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36A4AD-806C-4282-7923-DC35A8215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16" y="4498419"/>
            <a:ext cx="3153215" cy="15146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2933C8-3B40-A3B7-CAE2-C025DCD00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30" y="3555984"/>
            <a:ext cx="4124901" cy="8668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3BC9BD-EE6F-DBFD-92B6-9912EDB4C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52" y="6120844"/>
            <a:ext cx="3343742" cy="3711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FB53387-EEC6-7229-FB0B-A236DC974C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8726" y="1681214"/>
            <a:ext cx="3281623" cy="47672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8B2E116-88FE-47F6-EE85-B18645EE5A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8886" y="2262012"/>
            <a:ext cx="2971886" cy="7827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157ADB9-3FC6-BB1F-A46A-ADD8E248D0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3111652"/>
            <a:ext cx="2585556" cy="53310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6F8814A-6FD6-FC05-965F-ED03D98F66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230" y="4253423"/>
            <a:ext cx="4565115" cy="1759681"/>
          </a:xfrm>
          <a:prstGeom prst="rect">
            <a:avLst/>
          </a:prstGeom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70681560-657A-3479-B413-52F40A0519CB}"/>
              </a:ext>
            </a:extLst>
          </p:cNvPr>
          <p:cNvSpPr/>
          <p:nvPr/>
        </p:nvSpPr>
        <p:spPr>
          <a:xfrm>
            <a:off x="7406545" y="3224041"/>
            <a:ext cx="734227" cy="2776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6742CB-FDC6-A029-4630-BC4A9BFD2A01}"/>
              </a:ext>
            </a:extLst>
          </p:cNvPr>
          <p:cNvSpPr txBox="1"/>
          <p:nvPr/>
        </p:nvSpPr>
        <p:spPr>
          <a:xfrm>
            <a:off x="8137701" y="3177301"/>
            <a:ext cx="713122" cy="371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855989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3119-1FD1-1108-D8E3-091DF055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EAA07A-7A8C-EF3C-F0C3-BDB99685B8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0DBE8F8-1F2D-67A8-7172-44C50856D2A3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D25CBF7-1EC6-618B-0240-FC2F886F0873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D869DCF-4F61-DCB4-6D5A-DC1747C944CF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06A8F99-4F4F-D11B-EF32-57586A60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D8CC6DD-EF9C-E72E-C81A-25864E28B53D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90B3A-97F0-3BF1-B0A6-DC2423964950}"/>
              </a:ext>
            </a:extLst>
          </p:cNvPr>
          <p:cNvSpPr txBox="1"/>
          <p:nvPr/>
        </p:nvSpPr>
        <p:spPr>
          <a:xfrm>
            <a:off x="599187" y="1645345"/>
            <a:ext cx="91645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Type Aliases in TypeScript</a:t>
            </a:r>
          </a:p>
          <a:p>
            <a:r>
              <a:rPr lang="en-US" dirty="0">
                <a:solidFill>
                  <a:schemeClr val="tx1"/>
                </a:solidFill>
              </a:rPr>
              <a:t>A type alias allows developers to: create custom names for types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4D6BA8-A024-51D3-E21E-56401E601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389" y="1667116"/>
            <a:ext cx="2511940" cy="418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01EF76-3D11-A999-63D7-2DA01397C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87" y="2649405"/>
            <a:ext cx="3940070" cy="6271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6416A9-83E5-2960-4354-B344694B6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30" y="3320384"/>
            <a:ext cx="3817894" cy="17088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CE26BE-E6B3-853F-4E59-1DD1FCC3A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698" y="2626070"/>
            <a:ext cx="5702126" cy="11079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131392D-6692-DA71-BA50-E5A337B03A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94" y="5396254"/>
            <a:ext cx="9526329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76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DB98-CD88-5D0D-12D3-961DAC95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E14AE9-11BA-BB29-D407-BA37D0407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C184DE3-D023-6678-6F5B-CF2BBAF1E23C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26B958F-523D-B466-3A57-A68C8810146D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F2514D4-320C-4BAA-F40A-CDD1916579B0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D2FCEAA-633F-9F8F-51D6-1564FD1D4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Basic Data Types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8B13578-A9FE-7C82-5D26-0E7860372884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FECE6-CCBA-2487-B7FD-373B7265C084}"/>
              </a:ext>
            </a:extLst>
          </p:cNvPr>
          <p:cNvSpPr txBox="1"/>
          <p:nvPr/>
        </p:nvSpPr>
        <p:spPr>
          <a:xfrm>
            <a:off x="599187" y="1645345"/>
            <a:ext cx="91645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200" b="1">
                <a:solidFill>
                  <a:srgbClr val="00B05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Type Aliases in TypeScript</a:t>
            </a:r>
          </a:p>
          <a:p>
            <a:r>
              <a:rPr lang="en-US" dirty="0">
                <a:solidFill>
                  <a:schemeClr val="tx1"/>
                </a:solidFill>
              </a:rPr>
              <a:t>A type alias allows developers to: create custom names for types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6AC2C8-86FD-5BBC-BD5E-0A4735D07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86" y="2694997"/>
            <a:ext cx="3439413" cy="15418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339FA4-975C-7B3C-09E9-E04856A0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43" y="4552504"/>
            <a:ext cx="4598181" cy="11079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09C42F-F868-49E7-29AB-68E29137D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442" y="2385255"/>
            <a:ext cx="2737757" cy="270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0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20C6-96E7-1D55-6772-D2DD61D9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BAE556-76FA-DE96-3F25-A9E8F94B31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71A6CDE-07CE-67CF-461B-C74294E27B81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63080BE-2FF2-9C33-1B1C-6AF0A37B5DD0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B4FBEC3-A283-BB24-6ADD-FE8D50E0C697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0F0B5B7-B6E2-0955-872C-9A964519E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6547611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Functions Basics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F341E79-79C9-8AE7-FE19-FA4D36C3E22C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D2A1BE-A7BA-1477-D972-E81F44A7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86450"/>
            <a:ext cx="4893329" cy="13139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167563-61BA-B9AA-F59C-DEAA59027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76548"/>
            <a:ext cx="7818006" cy="13139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3CA960-6EA9-0C06-D961-CD14464B2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93" y="4675323"/>
            <a:ext cx="2653607" cy="211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33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10A0-5E97-EB6A-06C9-58AD1E09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0B75BA-4E0D-8061-DFD9-1CE67E457D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58A98F-5D1E-B39C-6BD8-A6094DA6696C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5F00A7-73A5-277B-3D34-0FDB1EB360B0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A7C1956-1BD2-7830-B90B-2B9826148C0F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98F20BB-E659-B2E4-4EA5-DF46CF5ED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Optional Parameters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3EDE5E5-379C-F27E-2894-55E1E073DABB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093CFF-7E86-A74D-CDAD-34D5E54C7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1905000"/>
            <a:ext cx="622433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3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6266-4E2E-3E0F-D995-BB581C57C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610F97-A47A-CB28-BD5C-C7A6844F84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AA4E1B0-29E3-C62D-58C7-C1A198BC5838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DA3F7D7-31DF-1491-F1B2-248B0ED597CE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D935B2-920E-E364-4BA6-A346FEF13122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66B8A64-50DE-5C44-C98A-836A08E083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Default Parameters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774931B-A671-2938-80F3-9776F286FC45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F01311-2EC2-5334-21B7-ECF5B7DD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4953000" cy="25416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62C597-4597-EAAF-0953-48818C928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39686"/>
            <a:ext cx="4648200" cy="274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10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99F77-FDD5-D563-AA4F-8CC18822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B16035-E4C9-B8EC-0338-D145732A61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00EAEDF-03BE-CB02-D9D6-51EAAA55A93B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DCEABFE-B9B4-B7D2-1CDE-CFC1CE87D0DE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77A13D9-3D8A-7B61-3272-CBFAE809F269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A7BAC9-458D-2B0D-2F33-9C0FF5B25D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Rest Parameters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0E8DDDA-BE30-72FB-F65D-797E61CC0312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E63603-B722-EFB4-B4E9-1664560E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586" y="1752365"/>
            <a:ext cx="4827814" cy="29199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B7567C-B095-7387-7836-9317D46DC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513" y="2057400"/>
            <a:ext cx="2932974" cy="203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05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A21D-949E-95B5-E166-85C377D3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2C7A0C-49B7-1832-A0B7-4EB6763BAB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B18A07-2206-20FB-B8CF-E0E1A30DE1F1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1DFBC32-F430-38DA-E89F-2491FEC2AAF1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D763A44-C5BB-B411-5251-2A73EE1142F0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A38624B-198E-789D-59F0-4117C0C83C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Rest Parameters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D6F408B-56F3-8546-C580-92A97FD49DAF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3FF175-C6BF-CC84-75E7-7898A6C90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76400"/>
            <a:ext cx="5076384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72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3229-8636-7A58-FBDC-F592FD1E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AE6AFD-C172-7E2D-B59F-1FDECB5645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0D6820-1F54-B4B8-1197-CA210434517C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84C1554-F3D8-AE03-D7E1-459A933DE131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0C8D45-CB6F-6358-97FB-3E46716C6838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8ED49D2-A66B-91EE-65CD-6CEF5D197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Interfaces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D844DEB-B449-DDEB-FD3B-BA7D6498376F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31EAD3-ADF4-CFDD-4A9F-0A4A64E59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69551"/>
            <a:ext cx="4064876" cy="1981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2F5401-7562-58E3-6E94-4D2DCA813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75" y="4251953"/>
            <a:ext cx="2920844" cy="14741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0570FA-5EB7-0511-40F6-854878662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823" y="2069551"/>
            <a:ext cx="3854660" cy="21214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C82032-8337-CADA-E93C-855D42C75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350" y="4389258"/>
            <a:ext cx="4963389" cy="212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40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8959-2F96-9ABC-1D1A-24BC62A7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5CE0FF-0135-EB2A-8344-2284D50C6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502FFE-E55B-A3C9-98F8-2A58EF0D8E84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C56108B-735C-70DE-F01A-BEBD4FB6B7DF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F51BEE-9035-6344-EE75-2F900662777C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5E82543-386E-6B2B-7412-C8A930E091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Classes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F86678E-47A6-7B9F-8FDF-89AD72331491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7A0C18-18B0-2625-F67E-7300DBC27A53}"/>
              </a:ext>
            </a:extLst>
          </p:cNvPr>
          <p:cNvSpPr txBox="1"/>
          <p:nvPr/>
        </p:nvSpPr>
        <p:spPr>
          <a:xfrm>
            <a:off x="685800" y="1752600"/>
            <a:ext cx="701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is a blueprint used to create:</a:t>
            </a:r>
          </a:p>
          <a:p>
            <a:pPr rtl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with shared properties and methods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854E58-3E2C-32D0-316B-E06C3B2A2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4408"/>
            <a:ext cx="3766531" cy="11693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55115B-5F77-AF6D-5D26-22FF9588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41" y="3989235"/>
            <a:ext cx="3834376" cy="7078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E64695-05EC-DEE9-493C-08609FE4B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96" y="2604315"/>
            <a:ext cx="4929104" cy="258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48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C167-0BE8-3CE5-A758-BFAF1FDE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E5111F-72AD-85B8-E60E-4E38658DA1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D731FDA-435F-B2A6-E75D-747D75D5818E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5328CA7-EAE3-D21B-52F9-0B8A49143E63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95D4573-7182-07C9-36D2-F61D48ECA708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E447BBC-949C-3420-DCB9-9F39DEF31B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Constructors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F3196C0-EDBF-7290-5473-7874EE4C660F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2708D-FF11-9369-0262-C6E48B54BCF6}"/>
              </a:ext>
            </a:extLst>
          </p:cNvPr>
          <p:cNvSpPr txBox="1"/>
          <p:nvPr/>
        </p:nvSpPr>
        <p:spPr>
          <a:xfrm>
            <a:off x="685800" y="1752600"/>
            <a:ext cx="701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is a special method inside a class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that:runs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when an object is created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D9EB-3A9B-AE8A-0936-E3FB246BF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612" y="2106542"/>
            <a:ext cx="4878387" cy="44312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991280-95B0-55B7-626C-2DF8B5357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18" y="3429000"/>
            <a:ext cx="4011794" cy="164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93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1035-201D-FCCA-6EF3-18D734D0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A593A8-2645-36ED-A95B-F448F713EA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90864BE-65E3-E9F7-7F12-8F67B4196CF1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CA57EB5-A819-8E0D-278B-594B082441B2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517034-4358-B7E3-EF38-3B845959BAA4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7A8F5EF-3E66-B22F-A37B-FD739F3D9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Access Modifiers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F513377-3CB1-CE27-C8C5-9CDD7B9D54EC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20B33B-495F-1075-0E66-D2C6E00A3AF7}"/>
              </a:ext>
            </a:extLst>
          </p:cNvPr>
          <p:cNvSpPr txBox="1"/>
          <p:nvPr/>
        </p:nvSpPr>
        <p:spPr>
          <a:xfrm>
            <a:off x="685800" y="1752600"/>
            <a:ext cx="701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modifiers control:</a:t>
            </a:r>
            <a:r>
              <a:rPr lang="ar-E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can access class properties and methods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04900C-CE7E-F65C-1FAF-7A398EB51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51339"/>
            <a:ext cx="5029200" cy="35204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65BA51-33F2-1B2B-D633-3A42C9BBD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870" y="1890022"/>
            <a:ext cx="3886200" cy="438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08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CB7C-8212-3186-023A-628BE5366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5FF9CD-C81A-D54E-22A9-206108B5AB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015F561-FECC-9A50-40FF-14E9849B0E0A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31F6E9C-004F-D314-3F08-579697D904ED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851392-FAA5-61AB-31D4-2A4B66BAC111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07CA860-DD93-760B-D413-585DEBE30B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20" dirty="0">
                <a:solidFill>
                  <a:srgbClr val="FFC000"/>
                </a:solidFill>
              </a:rPr>
              <a:t>Inheritance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CD3D67B-EB94-F7C0-0565-CF7DAC3FF373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B4564-28A5-EE9B-CB63-ED43D907D39B}"/>
              </a:ext>
            </a:extLst>
          </p:cNvPr>
          <p:cNvSpPr txBox="1"/>
          <p:nvPr/>
        </p:nvSpPr>
        <p:spPr>
          <a:xfrm>
            <a:off x="685800" y="1752600"/>
            <a:ext cx="7010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inheritance allows one class to:</a:t>
            </a:r>
          </a:p>
          <a:p>
            <a:r>
              <a:rPr lang="en-US" dirty="0"/>
              <a:t>inherit properties and methods from another class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EFF7BD-6AD7-E58C-E94E-2AFEA32FD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29" y="2456922"/>
            <a:ext cx="5201073" cy="41928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461825-164C-605D-5CBC-7C280FDCF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265" y="1609226"/>
            <a:ext cx="3412671" cy="503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10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96AF-BBD7-3495-99A4-C2C3DC54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F0A815F-41DA-B66F-504E-8FB106AE24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DC8E152-28E7-143C-060B-F6E4E6EA23C0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238E5B0-57D6-839C-6940-94110D8DE431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B0B129-9EDD-8271-6B99-D6DFD670E567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B5F07F0-C0C0-77E4-CF94-2E095AEA73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10" dirty="0">
                <a:solidFill>
                  <a:srgbClr val="FFC000"/>
                </a:solidFill>
              </a:rPr>
              <a:t>Generics in TypeScript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6514DF3-F110-96D3-D0A1-590D890E7D78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C2534-3B90-E9C4-8752-0FFA479749B7}"/>
              </a:ext>
            </a:extLst>
          </p:cNvPr>
          <p:cNvSpPr txBox="1"/>
          <p:nvPr/>
        </p:nvSpPr>
        <p:spPr>
          <a:xfrm>
            <a:off x="606425" y="1752600"/>
            <a:ext cx="7010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Generics allow developers to create:</a:t>
            </a:r>
          </a:p>
          <a:p>
            <a:r>
              <a:rPr lang="en-US" dirty="0"/>
              <a:t>reusable components that work with different data types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934C86-7928-30B3-6678-5F72B45DC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62" y="2491976"/>
            <a:ext cx="3165838" cy="18178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C527FD-3379-4C15-E4C7-6003B471E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4" y="4389821"/>
            <a:ext cx="3127375" cy="21242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1B8352-2C62-F355-20CF-2DB93BDBF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967" y="3029256"/>
            <a:ext cx="3197225" cy="26252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134FCC-64C5-7B29-666B-05D6A24BCD5D}"/>
              </a:ext>
            </a:extLst>
          </p:cNvPr>
          <p:cNvSpPr txBox="1"/>
          <p:nvPr/>
        </p:nvSpPr>
        <p:spPr>
          <a:xfrm>
            <a:off x="7171464" y="2569912"/>
            <a:ext cx="5631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+mj-cs"/>
              </a:rPr>
              <a:t>T</a:t>
            </a:r>
            <a:r>
              <a:rPr lang="en-US" dirty="0">
                <a:cs typeface="+mj-cs"/>
              </a:rPr>
              <a:t> is a:</a:t>
            </a:r>
            <a:r>
              <a:rPr lang="ar-EG" dirty="0">
                <a:cs typeface="+mj-cs"/>
              </a:rPr>
              <a:t> </a:t>
            </a:r>
            <a:r>
              <a:rPr lang="en-US" dirty="0">
                <a:cs typeface="+mj-cs"/>
              </a:rPr>
              <a:t> </a:t>
            </a:r>
            <a:r>
              <a:rPr lang="en-US" dirty="0">
                <a:latin typeface="Courier New" panose="02070309020205020404" pitchFamily="49" charset="0"/>
                <a:cs typeface="+mj-cs"/>
              </a:rPr>
              <a:t>type parameter</a:t>
            </a:r>
          </a:p>
          <a:p>
            <a:pPr>
              <a:buNone/>
            </a:pPr>
            <a:r>
              <a:rPr lang="en-US" dirty="0">
                <a:cs typeface="+mj-cs"/>
              </a:rPr>
              <a:t>It </a:t>
            </a:r>
            <a:r>
              <a:rPr lang="en-US" dirty="0">
                <a:latin typeface="Courier New" panose="02070309020205020404" pitchFamily="49" charset="0"/>
                <a:cs typeface="+mj-cs"/>
              </a:rPr>
              <a:t>a placeholder for any type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50110A-1800-1352-E650-C941701E6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540" y="3833400"/>
            <a:ext cx="3333659" cy="176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904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4D82-8704-6F2C-70D2-5F32C2AE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A7AC6E2-1D79-3A77-331B-D698FDA3CF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1FF2679-2954-250B-BAB7-2C4E02B54522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C754BC-ABEB-DB2F-2C49-6B489FCD5859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4570F0A-3D6B-BD5C-8B61-94ECF68E0689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C5D526D-53AC-1386-3FC6-710A364E4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10" dirty="0">
                <a:solidFill>
                  <a:srgbClr val="FFC000"/>
                </a:solidFill>
              </a:rPr>
              <a:t>Fetch APi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E460F8D-E091-9594-6E60-EE8606E53F7A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B9CC05-88E5-B67C-4DC2-2D38CAE41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1609750"/>
            <a:ext cx="8263644" cy="488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20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2BE2-202E-0211-0187-BA123770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370C0E-80B3-9788-93E9-44A6D78417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E79F033-F6BF-83D2-6675-6FE2B7920F62}"/>
              </a:ext>
            </a:extLst>
          </p:cNvPr>
          <p:cNvGrpSpPr/>
          <p:nvPr/>
        </p:nvGrpSpPr>
        <p:grpSpPr>
          <a:xfrm>
            <a:off x="0" y="0"/>
            <a:ext cx="11274425" cy="6867993"/>
            <a:chOff x="0" y="-9993"/>
            <a:chExt cx="11274425" cy="6867993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DB2CB8D-C355-9A7E-3D4C-EC2AF1C9B506}"/>
                </a:ext>
              </a:extLst>
            </p:cNvPr>
            <p:cNvSpPr/>
            <p:nvPr/>
          </p:nvSpPr>
          <p:spPr>
            <a:xfrm>
              <a:off x="304800" y="0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F7DDAEB-DEAF-929E-6861-8FB805865E04}"/>
                </a:ext>
              </a:extLst>
            </p:cNvPr>
            <p:cNvSpPr/>
            <p:nvPr/>
          </p:nvSpPr>
          <p:spPr>
            <a:xfrm>
              <a:off x="0" y="-9993"/>
              <a:ext cx="10969625" cy="6858000"/>
            </a:xfrm>
            <a:custGeom>
              <a:avLst/>
              <a:gdLst/>
              <a:ahLst/>
              <a:cxnLst/>
              <a:rect l="l" t="t" r="r" b="b"/>
              <a:pathLst>
                <a:path w="10969625" h="6858000">
                  <a:moveTo>
                    <a:pt x="9131379" y="0"/>
                  </a:moveTo>
                  <a:lnTo>
                    <a:pt x="0" y="0"/>
                  </a:lnTo>
                  <a:lnTo>
                    <a:pt x="0" y="6857996"/>
                  </a:lnTo>
                  <a:lnTo>
                    <a:pt x="10969123" y="6857996"/>
                  </a:lnTo>
                  <a:lnTo>
                    <a:pt x="9131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8388CCF-D5E4-F077-05E5-85A31277C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18" y="208251"/>
            <a:ext cx="7990282" cy="1055237"/>
          </a:xfrm>
          <a:prstGeom prst="rect">
            <a:avLst/>
          </a:prstGeom>
        </p:spPr>
        <p:txBody>
          <a:bodyPr vert="horz" wrap="square" lIns="0" tIns="4963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10" dirty="0">
                <a:solidFill>
                  <a:srgbClr val="FFC000"/>
                </a:solidFill>
              </a:rPr>
              <a:t>Fetch APi</a:t>
            </a:r>
            <a:endParaRPr sz="3600" spc="-10" dirty="0">
              <a:solidFill>
                <a:srgbClr val="FFC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33FAAA1-80A7-9842-CCD5-7DF60BCA0D41}"/>
              </a:ext>
            </a:extLst>
          </p:cNvPr>
          <p:cNvSpPr/>
          <p:nvPr/>
        </p:nvSpPr>
        <p:spPr>
          <a:xfrm>
            <a:off x="314960" y="1461746"/>
            <a:ext cx="10429240" cy="5178010"/>
          </a:xfrm>
          <a:custGeom>
            <a:avLst/>
            <a:gdLst/>
            <a:ahLst/>
            <a:cxnLst/>
            <a:rect l="l" t="t" r="r" b="b"/>
            <a:pathLst>
              <a:path w="8743315" h="2188845">
                <a:moveTo>
                  <a:pt x="0" y="272923"/>
                </a:moveTo>
                <a:lnTo>
                  <a:pt x="4396" y="223860"/>
                </a:lnTo>
                <a:lnTo>
                  <a:pt x="17070" y="177684"/>
                </a:lnTo>
                <a:lnTo>
                  <a:pt x="37252" y="135165"/>
                </a:lnTo>
                <a:lnTo>
                  <a:pt x="64172" y="97074"/>
                </a:lnTo>
                <a:lnTo>
                  <a:pt x="97058" y="64182"/>
                </a:lnTo>
                <a:lnTo>
                  <a:pt x="135141" y="37258"/>
                </a:lnTo>
                <a:lnTo>
                  <a:pt x="177649" y="17072"/>
                </a:lnTo>
                <a:lnTo>
                  <a:pt x="223812" y="4396"/>
                </a:lnTo>
                <a:lnTo>
                  <a:pt x="272859" y="0"/>
                </a:lnTo>
                <a:lnTo>
                  <a:pt x="8470265" y="0"/>
                </a:lnTo>
                <a:lnTo>
                  <a:pt x="8519327" y="4396"/>
                </a:lnTo>
                <a:lnTo>
                  <a:pt x="8565503" y="17072"/>
                </a:lnTo>
                <a:lnTo>
                  <a:pt x="8608022" y="37258"/>
                </a:lnTo>
                <a:lnTo>
                  <a:pt x="8646113" y="64182"/>
                </a:lnTo>
                <a:lnTo>
                  <a:pt x="8679005" y="97074"/>
                </a:lnTo>
                <a:lnTo>
                  <a:pt x="8705929" y="135165"/>
                </a:lnTo>
                <a:lnTo>
                  <a:pt x="8726115" y="177684"/>
                </a:lnTo>
                <a:lnTo>
                  <a:pt x="8738791" y="223860"/>
                </a:lnTo>
                <a:lnTo>
                  <a:pt x="8743188" y="272923"/>
                </a:lnTo>
                <a:lnTo>
                  <a:pt x="8743188" y="1915540"/>
                </a:lnTo>
                <a:lnTo>
                  <a:pt x="8738791" y="1964603"/>
                </a:lnTo>
                <a:lnTo>
                  <a:pt x="8726115" y="2010779"/>
                </a:lnTo>
                <a:lnTo>
                  <a:pt x="8705929" y="2053298"/>
                </a:lnTo>
                <a:lnTo>
                  <a:pt x="8679005" y="2091389"/>
                </a:lnTo>
                <a:lnTo>
                  <a:pt x="8646113" y="2124281"/>
                </a:lnTo>
                <a:lnTo>
                  <a:pt x="8608022" y="2151205"/>
                </a:lnTo>
                <a:lnTo>
                  <a:pt x="8565503" y="2171391"/>
                </a:lnTo>
                <a:lnTo>
                  <a:pt x="8519327" y="2184067"/>
                </a:lnTo>
                <a:lnTo>
                  <a:pt x="8470265" y="2188464"/>
                </a:lnTo>
                <a:lnTo>
                  <a:pt x="272859" y="2188464"/>
                </a:lnTo>
                <a:lnTo>
                  <a:pt x="223812" y="2184067"/>
                </a:lnTo>
                <a:lnTo>
                  <a:pt x="177649" y="2171391"/>
                </a:lnTo>
                <a:lnTo>
                  <a:pt x="135141" y="2151205"/>
                </a:lnTo>
                <a:lnTo>
                  <a:pt x="97058" y="2124281"/>
                </a:lnTo>
                <a:lnTo>
                  <a:pt x="64172" y="2091389"/>
                </a:lnTo>
                <a:lnTo>
                  <a:pt x="37252" y="2053298"/>
                </a:lnTo>
                <a:lnTo>
                  <a:pt x="17070" y="2010779"/>
                </a:lnTo>
                <a:lnTo>
                  <a:pt x="4396" y="1964603"/>
                </a:lnTo>
                <a:lnTo>
                  <a:pt x="0" y="1915540"/>
                </a:lnTo>
                <a:lnTo>
                  <a:pt x="0" y="272923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AE88B6-B414-2305-EE6C-E8B4D49B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40560"/>
            <a:ext cx="9462441" cy="349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865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2194" y="2648788"/>
            <a:ext cx="59258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85" dirty="0"/>
              <a:t> </a:t>
            </a:r>
            <a:r>
              <a:rPr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1851</TotalTime>
  <Words>986</Words>
  <Application>Microsoft Office PowerPoint</Application>
  <PresentationFormat>Widescreen</PresentationFormat>
  <Paragraphs>273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Aptos</vt:lpstr>
      <vt:lpstr>Arial</vt:lpstr>
      <vt:lpstr>Arial MT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Install node.js</vt:lpstr>
      <vt:lpstr>Install packages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Basic Data Types in TypeScript</vt:lpstr>
      <vt:lpstr>Functions Basics in TypeScript</vt:lpstr>
      <vt:lpstr>Optional Parameters in TypeScript</vt:lpstr>
      <vt:lpstr>Default Parameters in TypeScript</vt:lpstr>
      <vt:lpstr>Rest Parameters in TypeScript</vt:lpstr>
      <vt:lpstr>Rest Parameters in TypeScript</vt:lpstr>
      <vt:lpstr>Interfaces in TypeScript</vt:lpstr>
      <vt:lpstr>Classes in TypeScript</vt:lpstr>
      <vt:lpstr>Constructors in TypeScript</vt:lpstr>
      <vt:lpstr>Access Modifiers in TypeScript</vt:lpstr>
      <vt:lpstr>Inheritance in TypeScript</vt:lpstr>
      <vt:lpstr>Generics in TypeScript</vt:lpstr>
      <vt:lpstr>Fetch APi</vt:lpstr>
      <vt:lpstr>Fetch APi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</dc:title>
  <dc:creator>Mohamed Badr</dc:creator>
  <cp:lastModifiedBy>Kholoud Elsayed Elsayed Srour</cp:lastModifiedBy>
  <cp:revision>14</cp:revision>
  <dcterms:created xsi:type="dcterms:W3CDTF">2024-08-09T10:19:25Z</dcterms:created>
  <dcterms:modified xsi:type="dcterms:W3CDTF">2026-05-18T04:16:45Z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2018-07-31T00:00:00Z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2024-08-09T00:00:00Z</vt:filetime>
  </property>
</Properties>
</file>