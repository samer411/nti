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79" r:id="rId2"/>
    <p:sldId id="257" r:id="rId3"/>
    <p:sldId id="258" r:id="rId4"/>
    <p:sldId id="259" r:id="rId5"/>
    <p:sldId id="260" r:id="rId6"/>
    <p:sldId id="280" r:id="rId7"/>
    <p:sldId id="281" r:id="rId8"/>
    <p:sldId id="261"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6049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1702291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0135FAE-47C0-4BC8-935F-45FDBB12D6AD}"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1237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135FAE-47C0-4BC8-935F-45FDBB12D6AD}"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2738858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135FAE-47C0-4BC8-935F-45FDBB12D6AD}" type="datetimeFigureOut">
              <a:rPr lang="en-US" smtClean="0"/>
              <a:t>5/3/2026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2650670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135FAE-47C0-4BC8-935F-45FDBB12D6AD}" type="datetimeFigureOut">
              <a:rPr lang="en-US" smtClean="0"/>
              <a:t>5/3/2026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1106988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0135FAE-47C0-4BC8-935F-45FDBB12D6AD}" type="datetimeFigureOut">
              <a:rPr lang="en-US" smtClean="0"/>
              <a:t>5/3/2026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353703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0135FAE-47C0-4BC8-935F-45FDBB12D6AD}" type="datetimeFigureOut">
              <a:rPr lang="en-US" smtClean="0"/>
              <a:t>5/3/2026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D412674-96B2-4886-8558-ED5FB3F6CE70}" type="slidenum">
              <a:rPr lang="en-US" smtClean="0"/>
              <a:t>‹#›</a:t>
            </a:fld>
            <a:endParaRPr lang="en-US"/>
          </a:p>
        </p:txBody>
      </p:sp>
    </p:spTree>
    <p:extLst>
      <p:ext uri="{BB962C8B-B14F-4D97-AF65-F5344CB8AC3E}">
        <p14:creationId xmlns:p14="http://schemas.microsoft.com/office/powerpoint/2010/main" val="3601629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0135FAE-47C0-4BC8-935F-45FDBB12D6AD}"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2814981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1517715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337370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0135FAE-47C0-4BC8-935F-45FDBB12D6AD}" type="datetimeFigureOut">
              <a:rPr lang="en-US" smtClean="0"/>
              <a:t>5/3/2026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D412674-96B2-4886-8558-ED5FB3F6CE70}"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54447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speckyboy.com/getting-started-css-flexbox/"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dirty="0"/>
              <a:t>Grid System</a:t>
            </a:r>
          </a:p>
        </p:txBody>
      </p:sp>
    </p:spTree>
    <p:extLst>
      <p:ext uri="{BB962C8B-B14F-4D97-AF65-F5344CB8AC3E}">
        <p14:creationId xmlns:p14="http://schemas.microsoft.com/office/powerpoint/2010/main" val="2513449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47CC-A4C2-4CFE-B3B0-1C4C08319F23}"/>
              </a:ext>
            </a:extLst>
          </p:cNvPr>
          <p:cNvSpPr>
            <a:spLocks noGrp="1"/>
          </p:cNvSpPr>
          <p:nvPr>
            <p:ph type="title"/>
          </p:nvPr>
        </p:nvSpPr>
        <p:spPr/>
        <p:txBody>
          <a:bodyPr/>
          <a:lstStyle/>
          <a:p>
            <a:r>
              <a:rPr lang="en-US" dirty="0"/>
              <a:t>Grid System CSS</a:t>
            </a:r>
          </a:p>
        </p:txBody>
      </p:sp>
      <p:sp>
        <p:nvSpPr>
          <p:cNvPr id="3" name="Content Placeholder 2">
            <a:extLst>
              <a:ext uri="{FF2B5EF4-FFF2-40B4-BE49-F238E27FC236}">
                <a16:creationId xmlns:a16="http://schemas.microsoft.com/office/drawing/2014/main" id="{18A56360-8745-4178-815D-A3C9EB562C0B}"/>
              </a:ext>
            </a:extLst>
          </p:cNvPr>
          <p:cNvSpPr>
            <a:spLocks noGrp="1"/>
          </p:cNvSpPr>
          <p:nvPr>
            <p:ph idx="1"/>
          </p:nvPr>
        </p:nvSpPr>
        <p:spPr/>
        <p:txBody>
          <a:bodyPr/>
          <a:lstStyle/>
          <a:p>
            <a:r>
              <a:rPr lang="en-US" sz="2400" dirty="0"/>
              <a:t>Two dimensional layout model .</a:t>
            </a:r>
          </a:p>
          <a:p>
            <a:r>
              <a:rPr lang="en-US" sz="2000" b="0" i="0" dirty="0">
                <a:solidFill>
                  <a:srgbClr val="454545"/>
                </a:solidFill>
                <a:effectLst/>
                <a:latin typeface="nunito" panose="020B0604020202020204" pitchFamily="2" charset="0"/>
              </a:rPr>
              <a:t>CSS Grid will allow you to manage layout according to both </a:t>
            </a:r>
            <a:r>
              <a:rPr lang="en-US" sz="2000" b="0" i="1" dirty="0">
                <a:solidFill>
                  <a:srgbClr val="454545"/>
                </a:solidFill>
                <a:effectLst/>
                <a:latin typeface="nunito" panose="020B0604020202020204" pitchFamily="2" charset="0"/>
              </a:rPr>
              <a:t>columns</a:t>
            </a:r>
            <a:r>
              <a:rPr lang="en-US" sz="2000" b="0" i="0" dirty="0">
                <a:solidFill>
                  <a:srgbClr val="454545"/>
                </a:solidFill>
                <a:effectLst/>
                <a:latin typeface="nunito" panose="020B0604020202020204" pitchFamily="2" charset="0"/>
              </a:rPr>
              <a:t> and </a:t>
            </a:r>
            <a:r>
              <a:rPr lang="en-US" sz="2000" b="0" i="1" dirty="0">
                <a:solidFill>
                  <a:srgbClr val="454545"/>
                </a:solidFill>
                <a:effectLst/>
                <a:latin typeface="nunito" panose="020B0604020202020204" pitchFamily="2" charset="0"/>
              </a:rPr>
              <a:t>rows</a:t>
            </a:r>
            <a:r>
              <a:rPr lang="en-US" sz="2000" b="0" i="0" dirty="0">
                <a:solidFill>
                  <a:srgbClr val="454545"/>
                </a:solidFill>
                <a:effectLst/>
                <a:latin typeface="nunito" panose="020B0604020202020204" pitchFamily="2" charset="0"/>
              </a:rPr>
              <a:t>.</a:t>
            </a:r>
            <a:endParaRPr lang="en-US" sz="2400" b="0" i="0" dirty="0">
              <a:solidFill>
                <a:srgbClr val="454545"/>
              </a:solidFill>
              <a:effectLst/>
              <a:latin typeface="nunito" panose="020B0604020202020204" pitchFamily="2" charset="0"/>
            </a:endParaRPr>
          </a:p>
          <a:p>
            <a:r>
              <a:rPr lang="en-US" sz="2000" b="1" i="0" u="none" strike="noStrike" dirty="0">
                <a:solidFill>
                  <a:srgbClr val="49688A"/>
                </a:solidFill>
                <a:effectLst/>
                <a:latin typeface="nunito" pitchFamily="2" charset="0"/>
                <a:hlinkClick r:id="rId2"/>
              </a:rPr>
              <a:t>Flexbox</a:t>
            </a:r>
            <a:r>
              <a:rPr lang="en-US" sz="2000" b="0" i="0" dirty="0">
                <a:solidFill>
                  <a:srgbClr val="454545"/>
                </a:solidFill>
                <a:effectLst/>
                <a:latin typeface="nunito" pitchFamily="2" charset="0"/>
              </a:rPr>
              <a:t>, by comparison, is really just meant for columns (1-D, if you will). Using CSS Grid, designers will be able to achieve layouts that were downright difficult before. In fact, some of these things were on our wish lists since the days of table-based layouts.</a:t>
            </a:r>
            <a:endParaRPr lang="en-US" sz="2400" dirty="0"/>
          </a:p>
        </p:txBody>
      </p:sp>
    </p:spTree>
    <p:extLst>
      <p:ext uri="{BB962C8B-B14F-4D97-AF65-F5344CB8AC3E}">
        <p14:creationId xmlns:p14="http://schemas.microsoft.com/office/powerpoint/2010/main" val="1291721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89660-D79C-48F0-AF78-207DF3E1D093}"/>
              </a:ext>
            </a:extLst>
          </p:cNvPr>
          <p:cNvSpPr>
            <a:spLocks noGrp="1"/>
          </p:cNvSpPr>
          <p:nvPr>
            <p:ph type="title"/>
          </p:nvPr>
        </p:nvSpPr>
        <p:spPr/>
        <p:txBody>
          <a:bodyPr/>
          <a:lstStyle/>
          <a:p>
            <a:r>
              <a:rPr lang="en-US" dirty="0"/>
              <a:t>2-D Layout</a:t>
            </a:r>
          </a:p>
        </p:txBody>
      </p:sp>
      <p:pic>
        <p:nvPicPr>
          <p:cNvPr id="4" name="Content Placeholder 3">
            <a:extLst>
              <a:ext uri="{FF2B5EF4-FFF2-40B4-BE49-F238E27FC236}">
                <a16:creationId xmlns:a16="http://schemas.microsoft.com/office/drawing/2014/main" id="{DF9AE5D4-773E-F008-C8FC-3BA57D6BFE01}"/>
              </a:ext>
            </a:extLst>
          </p:cNvPr>
          <p:cNvPicPr>
            <a:picLocks noGrp="1" noChangeAspect="1"/>
          </p:cNvPicPr>
          <p:nvPr>
            <p:ph idx="1"/>
          </p:nvPr>
        </p:nvPicPr>
        <p:blipFill>
          <a:blip r:embed="rId2"/>
          <a:stretch>
            <a:fillRect/>
          </a:stretch>
        </p:blipFill>
        <p:spPr>
          <a:xfrm>
            <a:off x="4506913" y="3152775"/>
            <a:ext cx="3238500" cy="1409700"/>
          </a:xfrm>
          <a:prstGeom prst="rect">
            <a:avLst/>
          </a:prstGeom>
        </p:spPr>
      </p:pic>
    </p:spTree>
    <p:extLst>
      <p:ext uri="{BB962C8B-B14F-4D97-AF65-F5344CB8AC3E}">
        <p14:creationId xmlns:p14="http://schemas.microsoft.com/office/powerpoint/2010/main" val="1984735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9C639-5EC8-4D86-9F1A-17C9D28F2948}"/>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9EFC769-3D8B-41B2-890A-4D015D967EFC}"/>
              </a:ext>
            </a:extLst>
          </p:cNvPr>
          <p:cNvSpPr>
            <a:spLocks noGrp="1"/>
          </p:cNvSpPr>
          <p:nvPr>
            <p:ph idx="1"/>
          </p:nvPr>
        </p:nvSpPr>
        <p:spPr/>
        <p:txBody>
          <a:bodyPr/>
          <a:lstStyle/>
          <a:p>
            <a:pPr>
              <a:buFont typeface="Wingdings" panose="05000000000000000000" pitchFamily="2" charset="2"/>
              <a:buChar char="Ø"/>
            </a:pPr>
            <a:r>
              <a:rPr lang="en-US" dirty="0"/>
              <a:t>Grid container</a:t>
            </a:r>
          </a:p>
          <a:p>
            <a:pPr>
              <a:buFont typeface="Wingdings" panose="05000000000000000000" pitchFamily="2" charset="2"/>
              <a:buChar char="Ø"/>
            </a:pPr>
            <a:r>
              <a:rPr lang="en-US" dirty="0"/>
              <a:t>Grid items</a:t>
            </a:r>
          </a:p>
          <a:p>
            <a:pPr marL="0" indent="0" algn="ctr">
              <a:buNone/>
            </a:pPr>
            <a:r>
              <a:rPr lang="en-US" sz="2400" dirty="0">
                <a:solidFill>
                  <a:schemeClr val="accent2"/>
                </a:solidFill>
              </a:rPr>
              <a:t>                                 &lt;div class=‘container’&gt;</a:t>
            </a:r>
          </a:p>
          <a:p>
            <a:pPr marL="0" indent="0" algn="ctr">
              <a:buNone/>
            </a:pPr>
            <a:r>
              <a:rPr lang="en-US" sz="2400" dirty="0">
                <a:solidFill>
                  <a:schemeClr val="accent2"/>
                </a:solidFill>
              </a:rPr>
              <a:t>                                             &lt;div&gt; item 1 &lt;/div&gt;</a:t>
            </a:r>
          </a:p>
          <a:p>
            <a:pPr marL="0" indent="0" algn="ctr">
              <a:buNone/>
            </a:pPr>
            <a:r>
              <a:rPr lang="en-US" sz="2400" dirty="0">
                <a:solidFill>
                  <a:schemeClr val="accent2"/>
                </a:solidFill>
              </a:rPr>
              <a:t>                                               &lt;div&gt; item 2 &lt;/div&gt;</a:t>
            </a:r>
          </a:p>
          <a:p>
            <a:pPr marL="0" indent="0" algn="ctr">
              <a:buNone/>
            </a:pPr>
            <a:r>
              <a:rPr lang="en-US" sz="2400" dirty="0">
                <a:solidFill>
                  <a:schemeClr val="accent2"/>
                </a:solidFill>
              </a:rPr>
              <a:t>                                               &lt;div&gt; item 3 &lt;/div&gt;</a:t>
            </a:r>
          </a:p>
          <a:p>
            <a:pPr marL="0" indent="0" algn="ctr">
              <a:buNone/>
            </a:pPr>
            <a:r>
              <a:rPr lang="en-US" sz="2400" dirty="0">
                <a:solidFill>
                  <a:schemeClr val="accent2"/>
                </a:solidFill>
              </a:rPr>
              <a:t>  &lt;/div&gt;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961946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3E3C-1E8B-4587-A9B6-B59D158F7C3F}"/>
              </a:ext>
            </a:extLst>
          </p:cNvPr>
          <p:cNvSpPr>
            <a:spLocks noGrp="1"/>
          </p:cNvSpPr>
          <p:nvPr>
            <p:ph type="title"/>
          </p:nvPr>
        </p:nvSpPr>
        <p:spPr/>
        <p:txBody>
          <a:bodyPr/>
          <a:lstStyle/>
          <a:p>
            <a:r>
              <a:rPr lang="en-US" dirty="0"/>
              <a:t>Two Ways to implement Grid in CSS</a:t>
            </a:r>
          </a:p>
        </p:txBody>
      </p:sp>
      <p:sp>
        <p:nvSpPr>
          <p:cNvPr id="3" name="Content Placeholder 2">
            <a:extLst>
              <a:ext uri="{FF2B5EF4-FFF2-40B4-BE49-F238E27FC236}">
                <a16:creationId xmlns:a16="http://schemas.microsoft.com/office/drawing/2014/main" id="{BCCB22F1-6C0F-42B1-81EC-822F1CBAB4AF}"/>
              </a:ext>
            </a:extLst>
          </p:cNvPr>
          <p:cNvSpPr>
            <a:spLocks noGrp="1"/>
          </p:cNvSpPr>
          <p:nvPr>
            <p:ph idx="1"/>
          </p:nvPr>
        </p:nvSpPr>
        <p:spPr/>
        <p:txBody>
          <a:bodyPr/>
          <a:lstStyle/>
          <a:p>
            <a:pPr>
              <a:buFont typeface="Wingdings" panose="05000000000000000000" pitchFamily="2" charset="2"/>
              <a:buChar char="Ø"/>
            </a:pPr>
            <a:r>
              <a:rPr lang="en-US" sz="2800" dirty="0" err="1"/>
              <a:t>Way_one</a:t>
            </a:r>
            <a:endParaRPr lang="en-US" sz="2800" dirty="0"/>
          </a:p>
          <a:p>
            <a:pPr>
              <a:buFont typeface="Wingdings" panose="05000000000000000000" pitchFamily="2" charset="2"/>
              <a:buChar char="§"/>
            </a:pPr>
            <a:r>
              <a:rPr lang="en-US" dirty="0"/>
              <a:t>Grid-template-columns</a:t>
            </a:r>
          </a:p>
          <a:p>
            <a:pPr>
              <a:buFont typeface="Wingdings" panose="05000000000000000000" pitchFamily="2" charset="2"/>
              <a:buChar char="§"/>
            </a:pPr>
            <a:r>
              <a:rPr lang="en-US" dirty="0"/>
              <a:t>Grid-template-rows</a:t>
            </a:r>
          </a:p>
          <a:p>
            <a:pPr>
              <a:buFont typeface="Wingdings" panose="05000000000000000000" pitchFamily="2" charset="2"/>
              <a:buChar char="§"/>
            </a:pPr>
            <a:r>
              <a:rPr lang="en-US" dirty="0"/>
              <a:t>Grid-column : start/end</a:t>
            </a:r>
          </a:p>
          <a:p>
            <a:pPr>
              <a:buFont typeface="Wingdings" panose="05000000000000000000" pitchFamily="2" charset="2"/>
              <a:buChar char="§"/>
            </a:pPr>
            <a:r>
              <a:rPr lang="en-US" dirty="0"/>
              <a:t>Grid-row : start/end</a:t>
            </a:r>
          </a:p>
        </p:txBody>
      </p:sp>
    </p:spTree>
    <p:extLst>
      <p:ext uri="{BB962C8B-B14F-4D97-AF65-F5344CB8AC3E}">
        <p14:creationId xmlns:p14="http://schemas.microsoft.com/office/powerpoint/2010/main" val="2193228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3E3C-1E8B-4587-A9B6-B59D158F7C3F}"/>
              </a:ext>
            </a:extLst>
          </p:cNvPr>
          <p:cNvSpPr>
            <a:spLocks noGrp="1"/>
          </p:cNvSpPr>
          <p:nvPr>
            <p:ph type="title"/>
          </p:nvPr>
        </p:nvSpPr>
        <p:spPr/>
        <p:txBody>
          <a:bodyPr/>
          <a:lstStyle/>
          <a:p>
            <a:r>
              <a:rPr lang="en-US" dirty="0"/>
              <a:t>Two Ways to implement Grid in CSS</a:t>
            </a:r>
          </a:p>
        </p:txBody>
      </p:sp>
      <p:sp>
        <p:nvSpPr>
          <p:cNvPr id="3" name="Content Placeholder 2">
            <a:extLst>
              <a:ext uri="{FF2B5EF4-FFF2-40B4-BE49-F238E27FC236}">
                <a16:creationId xmlns:a16="http://schemas.microsoft.com/office/drawing/2014/main" id="{BCCB22F1-6C0F-42B1-81EC-822F1CBAB4AF}"/>
              </a:ext>
            </a:extLst>
          </p:cNvPr>
          <p:cNvSpPr>
            <a:spLocks noGrp="1"/>
          </p:cNvSpPr>
          <p:nvPr>
            <p:ph idx="1"/>
          </p:nvPr>
        </p:nvSpPr>
        <p:spPr/>
        <p:txBody>
          <a:bodyPr/>
          <a:lstStyle/>
          <a:p>
            <a:pPr>
              <a:buFont typeface="Wingdings" panose="05000000000000000000" pitchFamily="2" charset="2"/>
              <a:buChar char="Ø"/>
            </a:pPr>
            <a:r>
              <a:rPr lang="en-US" sz="2800" dirty="0" err="1"/>
              <a:t>Way_two</a:t>
            </a:r>
            <a:endParaRPr lang="en-US" sz="2800" dirty="0"/>
          </a:p>
          <a:p>
            <a:pPr>
              <a:buFont typeface="Wingdings" panose="05000000000000000000" pitchFamily="2" charset="2"/>
              <a:buChar char="§"/>
            </a:pPr>
            <a:r>
              <a:rPr lang="en-US" dirty="0"/>
              <a:t>Grid-template-areas</a:t>
            </a:r>
          </a:p>
          <a:p>
            <a:pPr>
              <a:buFont typeface="Wingdings" panose="05000000000000000000" pitchFamily="2" charset="2"/>
              <a:buChar char="§"/>
            </a:pPr>
            <a:r>
              <a:rPr lang="en-US" dirty="0"/>
              <a:t>Grid-area</a:t>
            </a:r>
          </a:p>
        </p:txBody>
      </p:sp>
    </p:spTree>
    <p:extLst>
      <p:ext uri="{BB962C8B-B14F-4D97-AF65-F5344CB8AC3E}">
        <p14:creationId xmlns:p14="http://schemas.microsoft.com/office/powerpoint/2010/main" val="4120035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dirty="0"/>
              <a:t>Media Queries</a:t>
            </a:r>
          </a:p>
        </p:txBody>
      </p:sp>
    </p:spTree>
    <p:extLst>
      <p:ext uri="{BB962C8B-B14F-4D97-AF65-F5344CB8AC3E}">
        <p14:creationId xmlns:p14="http://schemas.microsoft.com/office/powerpoint/2010/main" val="581809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71BF2-F31C-4EAA-94B9-A30B2D841A74}"/>
              </a:ext>
            </a:extLst>
          </p:cNvPr>
          <p:cNvSpPr>
            <a:spLocks noGrp="1"/>
          </p:cNvSpPr>
          <p:nvPr>
            <p:ph type="title"/>
          </p:nvPr>
        </p:nvSpPr>
        <p:spPr/>
        <p:txBody>
          <a:bodyPr/>
          <a:lstStyle/>
          <a:p>
            <a:r>
              <a:rPr lang="en-US" dirty="0"/>
              <a:t>Media Queries</a:t>
            </a:r>
          </a:p>
        </p:txBody>
      </p:sp>
      <p:sp>
        <p:nvSpPr>
          <p:cNvPr id="3" name="Content Placeholder 2">
            <a:extLst>
              <a:ext uri="{FF2B5EF4-FFF2-40B4-BE49-F238E27FC236}">
                <a16:creationId xmlns:a16="http://schemas.microsoft.com/office/drawing/2014/main" id="{9996B8A8-C96B-4F88-975B-47CCC17AE9A5}"/>
              </a:ext>
            </a:extLst>
          </p:cNvPr>
          <p:cNvSpPr>
            <a:spLocks noGrp="1"/>
          </p:cNvSpPr>
          <p:nvPr>
            <p:ph idx="1"/>
          </p:nvPr>
        </p:nvSpPr>
        <p:spPr/>
        <p:txBody>
          <a:bodyPr/>
          <a:lstStyle/>
          <a:p>
            <a:pPr>
              <a:buFont typeface="Wingdings" panose="05000000000000000000" pitchFamily="2" charset="2"/>
              <a:buChar char="Ø"/>
            </a:pPr>
            <a:r>
              <a:rPr lang="en-US" sz="2400" dirty="0"/>
              <a:t>Tell the browser how to style an element at particular viewport dimensions</a:t>
            </a:r>
          </a:p>
          <a:p>
            <a:pPr>
              <a:buFont typeface="Wingdings" panose="05000000000000000000" pitchFamily="2" charset="2"/>
              <a:buChar char="Ø"/>
            </a:pPr>
            <a:r>
              <a:rPr lang="en-US" sz="2400" dirty="0"/>
              <a:t>Types : </a:t>
            </a:r>
          </a:p>
          <a:p>
            <a:pPr>
              <a:buFont typeface="Wingdings" panose="05000000000000000000" pitchFamily="2" charset="2"/>
              <a:buChar char="§"/>
            </a:pPr>
            <a:r>
              <a:rPr lang="en-US" sz="2400" dirty="0"/>
              <a:t> all</a:t>
            </a:r>
          </a:p>
          <a:p>
            <a:pPr>
              <a:buFont typeface="Wingdings" panose="05000000000000000000" pitchFamily="2" charset="2"/>
              <a:buChar char="§"/>
            </a:pPr>
            <a:r>
              <a:rPr lang="en-US" sz="2400" dirty="0"/>
              <a:t>Screen</a:t>
            </a:r>
          </a:p>
          <a:p>
            <a:pPr>
              <a:buFont typeface="Wingdings" panose="05000000000000000000" pitchFamily="2" charset="2"/>
              <a:buChar char="§"/>
            </a:pPr>
            <a:r>
              <a:rPr lang="en-US" sz="2400" dirty="0"/>
              <a:t>Print</a:t>
            </a:r>
          </a:p>
          <a:p>
            <a:pPr>
              <a:buFont typeface="Wingdings" panose="05000000000000000000" pitchFamily="2" charset="2"/>
              <a:buChar char="§"/>
            </a:pPr>
            <a:r>
              <a:rPr lang="en-US" sz="2400" dirty="0"/>
              <a:t>Speech</a:t>
            </a:r>
          </a:p>
          <a:p>
            <a:pPr marL="0" indent="0">
              <a:buNone/>
            </a:pPr>
            <a:endParaRPr lang="en-US" sz="2400" dirty="0"/>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2048954926"/>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514</TotalTime>
  <Words>184</Words>
  <Application>Microsoft Office PowerPoint</Application>
  <PresentationFormat>Widescreen</PresentationFormat>
  <Paragraphs>32</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Calibri</vt:lpstr>
      <vt:lpstr>Calibri Light</vt:lpstr>
      <vt:lpstr>nunito</vt:lpstr>
      <vt:lpstr>Wingdings</vt:lpstr>
      <vt:lpstr>Retrospect</vt:lpstr>
      <vt:lpstr>Grid System</vt:lpstr>
      <vt:lpstr>Grid System CSS</vt:lpstr>
      <vt:lpstr>2-D Layout</vt:lpstr>
      <vt:lpstr>Terminology</vt:lpstr>
      <vt:lpstr>Two Ways to implement Grid in CSS</vt:lpstr>
      <vt:lpstr>Two Ways to implement Grid in CSS</vt:lpstr>
      <vt:lpstr>Media Queries</vt:lpstr>
      <vt:lpstr>Media Queries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Flexbox</dc:title>
  <dc:creator>Hp</dc:creator>
  <cp:lastModifiedBy>Abd Allah Mohamed Elmetwaly Hussien Mostafa</cp:lastModifiedBy>
  <cp:revision>7</cp:revision>
  <dcterms:created xsi:type="dcterms:W3CDTF">2022-04-25T07:27:39Z</dcterms:created>
  <dcterms:modified xsi:type="dcterms:W3CDTF">2026-05-02T22:10:28Z</dcterms:modified>
</cp:coreProperties>
</file>