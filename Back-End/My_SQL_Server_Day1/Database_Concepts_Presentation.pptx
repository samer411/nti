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1.png"/><Relationship Id="rId3" Type="http://schemas.openxmlformats.org/officeDocument/2006/relationships/image" Target="../media/image-25-1.png"/><Relationship Id="rId4" Type="http://schemas.openxmlformats.org/officeDocument/2006/relationships/image" Target="../media/image-25-1.png"/><Relationship Id="rId5" Type="http://schemas.openxmlformats.org/officeDocument/2006/relationships/image" Target="../media/image-25-1.png"/><Relationship Id="rId6" Type="http://schemas.openxmlformats.org/officeDocument/2006/relationships/image" Target="../media/image-25-1.png"/><Relationship Id="rId7" Type="http://schemas.openxmlformats.org/officeDocument/2006/relationships/image" Target="../media/image-25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A3470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640080"/>
            <a:ext cx="3291840" cy="3291840"/>
          </a:xfrm>
          <a:prstGeom prst="ellipse">
            <a:avLst/>
          </a:prstGeom>
          <a:solidFill>
            <a:srgbClr val="3D5AF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4297680"/>
            <a:ext cx="4206240" cy="4206240"/>
          </a:xfrm>
          <a:prstGeom prst="ellipse">
            <a:avLst/>
          </a:prstGeom>
          <a:solidFill>
            <a:srgbClr val="2A3470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5120640"/>
            <a:ext cx="2377440" cy="2377440"/>
          </a:xfrm>
          <a:prstGeom prst="ellipse">
            <a:avLst/>
          </a:prstGeom>
          <a:solidFill>
            <a:srgbClr val="0EA5A4">
              <a:alpha val="2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CONCEPTS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30358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File-Based Systems to ERD and SQL Fundamentals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822960" cy="54864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2245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  |   Entity-Relationship Modeling   |   Structured Query Language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Fundamentals Course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391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6" y="217078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3756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96112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Systems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96112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traditional file storage and why databases emerged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17830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20391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826" y="2170786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645152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45152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advantages, disadvantages, and core architecture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17830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4192" y="20391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icons/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866" y="2170786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83564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8394192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Life Cycle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394192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analysis &amp; design to implementation and client access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43891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96112" y="46451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home/claude/icons/e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86" y="4776826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337560" y="4572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896112" y="5303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Concepts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896112" y="5806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attributes, relationships, and notation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389120" y="43891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45152" y="46451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/home/claude/icons/k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826" y="4776826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86600" y="4572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25"/>
          <p:cNvSpPr/>
          <p:nvPr/>
        </p:nvSpPr>
        <p:spPr>
          <a:xfrm>
            <a:off x="4645152" y="5303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&amp; Constraints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45152" y="5806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Primary, candidate, foreign keys and participation rules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38160" y="43891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94192" y="46451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5" descr="/home/claude/icons/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5866" y="4776826"/>
            <a:ext cx="285293" cy="285293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835640" y="4572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0"/>
          <p:cNvSpPr/>
          <p:nvPr/>
        </p:nvSpPr>
        <p:spPr>
          <a:xfrm>
            <a:off x="8394192" y="5303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394192" y="5806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DDL, DML, DCL, DQL, and TCL command categories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A3470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572000"/>
            <a:ext cx="4114800" cy="4114800"/>
          </a:xfrm>
          <a:prstGeom prst="ellipse">
            <a:avLst/>
          </a:prstGeom>
          <a:solidFill>
            <a:srgbClr val="2A347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A46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File-Based Systems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file storage falls short — and what databases solve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 FORMATS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Delimited vs. Fixed-Width Files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6" name="Image 0" descr="/home/claude/icons/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17810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75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Delimited File (Student Data)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2743200"/>
            <a:ext cx="4800600" cy="1554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83464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CF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1,ahmed,20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CF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2,ali,22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CF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3,omar,24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CF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1,ahmed,22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448056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value is separated by a delimiter (comma). Notice the duplicate record for “ahmed” with conflicting ages — a classic data redundancy problem.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99632" y="17830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73952" y="2057400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3" name="Image 1" descr="/home/claude/icons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217810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9752" y="2075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Fixed-Width File (Dept Data)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473952" y="2743200"/>
            <a:ext cx="4800600" cy="1554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Text 12"/>
          <p:cNvSpPr/>
          <p:nvPr/>
        </p:nvSpPr>
        <p:spPr>
          <a:xfrm>
            <a:off x="6656832" y="288036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HR 20 SD 30 Admin 40 Finance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73952" y="448056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field occupies a fixed number of bytes/characters with no delimiter. Parsing requires knowing exact column widths in advance — fragile and hard to maintain.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 &amp; 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File-Based Systems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/home/claude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756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Sort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2286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efficient mechanism for searching or sorting large volumes of data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9659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1" name="Image 1" descr="/home/claude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0756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Performance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166360" y="2286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slow down significantly as file size grows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19659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6" name="Image 2" descr="/home/claude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07568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915400" y="2286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&amp; isolation of data — each user/program keeps its own copy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3832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35661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1" name="Image 3" descr="/home/claude/icons/exch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67588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Modifications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417320" y="38862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structure or content requires reworking programs and metadata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33832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35661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6" name="Image 4" descr="/home/claude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367588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166360" y="38862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access control — anyone with file access sees everything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3832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35661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31" name="Image 5" descr="/home/claude/icons/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3675888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15400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of Data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915400" y="38862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copies across files lead to inconsistencies when updated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40080" y="49834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22960" y="51663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36" name="Image 6" descr="/home/claude/icons/sitema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5276088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17320" y="5120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Relationships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1417320" y="54864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way to link related data across separate files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389120" y="49834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572000" y="51663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41" name="Image 7" descr="/home/claude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1728" y="5276088"/>
            <a:ext cx="237744" cy="23774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166360" y="5120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Integrity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5166360" y="54864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 rules — inconsistent or invalid data goes unchecked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8138160" y="49834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321040" y="51663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46" name="Image 8" descr="/home/claude/icons/und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0768" y="5276088"/>
            <a:ext cx="237744" cy="23774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915400" y="5120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Backup &amp; Restore</a:t>
            </a:r>
            <a:endParaRPr lang="en-US" sz="1400" dirty="0"/>
          </a:p>
        </p:txBody>
      </p:sp>
      <p:sp>
        <p:nvSpPr>
          <p:cNvPr id="48" name="Text 37"/>
          <p:cNvSpPr/>
          <p:nvPr/>
        </p:nvSpPr>
        <p:spPr>
          <a:xfrm>
            <a:off x="8915400" y="54864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from failures depends entirely on manual processes</a:t>
            </a:r>
            <a:endParaRPr lang="en-US" sz="1050" dirty="0"/>
          </a:p>
        </p:txBody>
      </p:sp>
      <p:sp>
        <p:nvSpPr>
          <p:cNvPr id="49" name="Text 38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A3470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572000"/>
            <a:ext cx="4114800" cy="4114800"/>
          </a:xfrm>
          <a:prstGeom prst="ellipse">
            <a:avLst/>
          </a:prstGeom>
          <a:solidFill>
            <a:srgbClr val="2A347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A46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Systems &amp; DBMS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Centralized, structured, and reliable data management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TERMS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Database, DBMS &amp; Database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94360" cy="59436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6" name="Image 0" descr="/home/claude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20004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88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3375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related data, organized for efficient storage and retrieval.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057400"/>
            <a:ext cx="594360" cy="59436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1" name="Image 1" descr="/home/claude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086" y="220004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788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663440" y="33375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 — software that creates and maintains a computerized database. The relational model was introduced by IBM in 1970; RDBMS products emerged in the 1980s.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2057400"/>
            <a:ext cx="594360" cy="59436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16" name="Image 2" descr="/home/claude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26" y="220004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788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System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412480" y="33375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DBMS software together with the data itself — sometimes including the applications that use it. (Software + Database)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CONNECTS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9418320" cy="1325880"/>
          </a:xfrm>
          <a:prstGeom prst="roundRect">
            <a:avLst>
              <a:gd name="adj" fmla="val 5517"/>
            </a:avLst>
          </a:prstGeom>
          <a:solidFill>
            <a:srgbClr val="3D5AFE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37360" y="19933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Application Programs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737360" y="2468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interact through application programs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97880" y="310896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D5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97880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5AFE"/>
                </a:solidFill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3474720"/>
            <a:ext cx="941832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363931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Software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37360" y="4114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to process queries and access stored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97880" y="475488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↓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71600" y="5120640"/>
            <a:ext cx="9418320" cy="1325880"/>
          </a:xfrm>
          <a:prstGeom prst="roundRect">
            <a:avLst>
              <a:gd name="adj" fmla="val 5517"/>
            </a:avLst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37360" y="52852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Database &amp; Metadata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5760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DB Definition (Metadata) + Stored Database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68122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 = DBMS Software + Database (the layers above work together as one system)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DBMS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a DBMS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51760" cy="2286000"/>
          </a:xfrm>
          <a:prstGeom prst="roundRect">
            <a:avLst>
              <a:gd name="adj" fmla="val 28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6" name="Image 0" descr="/home/claude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949" y="2104949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6060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&amp; Accessibility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" y="315468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provides a standard language with better data accessibility and response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74720" y="1783080"/>
            <a:ext cx="2651760" cy="2286000"/>
          </a:xfrm>
          <a:prstGeom prst="roundRect">
            <a:avLst>
              <a:gd name="adj" fmla="val 28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75888" y="1984248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1" name="Image 1" descr="/home/claude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589" y="2104949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75888" y="26060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Sharing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75888" y="315468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users get different views of the same underlying data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1783080"/>
            <a:ext cx="2651760" cy="2286000"/>
          </a:xfrm>
          <a:prstGeom prst="roundRect">
            <a:avLst>
              <a:gd name="adj" fmla="val 28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10528" y="1984248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6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229" y="210494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10528" y="26060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10528" y="315468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rules improve data quality through validation and constraints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44000" y="1783080"/>
            <a:ext cx="2651760" cy="2286000"/>
          </a:xfrm>
          <a:prstGeom prst="roundRect">
            <a:avLst>
              <a:gd name="adj" fmla="val 28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45168" y="1984248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21" name="Image 3" descr="/home/claude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5869" y="2104949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45168" y="26060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Access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345168" y="315468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is restricted via security and permission controls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4297680"/>
            <a:ext cx="2651760" cy="2286000"/>
          </a:xfrm>
          <a:prstGeom prst="roundRect">
            <a:avLst>
              <a:gd name="adj" fmla="val 28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41248" y="4498848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26" name="Image 4" descr="/home/claude/icons/und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49" y="4619549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41248" y="51206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41248" y="566928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tools make disaster recovery far easier than manual methods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474720" y="4297680"/>
            <a:ext cx="2651760" cy="2286000"/>
          </a:xfrm>
          <a:prstGeom prst="roundRect">
            <a:avLst>
              <a:gd name="adj" fmla="val 28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75888" y="4498848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31" name="Image 5" descr="/home/claude/icons/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6589" y="4619549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75888" y="51206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Redundancy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675888" y="566928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duplication leads to increased integrity and consistency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309360" y="4297680"/>
            <a:ext cx="2651760" cy="2286000"/>
          </a:xfrm>
          <a:prstGeom prst="roundRect">
            <a:avLst>
              <a:gd name="adj" fmla="val 28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510528" y="4498848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36" name="Image 6" descr="/home/claude/icons/exchan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1229" y="4619549"/>
            <a:ext cx="261518" cy="26151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510528" y="51206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Program-Data Independence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510528" y="566928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lives in the DBMS — applications don’t worry about data formats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PEOPLE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Disadvantages &amp; Database Roles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CF6F5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/home/claude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17810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848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 of DBMS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expertise to use — specialized skills for design and administration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DBMS itself is expensive — licensing, hardware, and maintenance costs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incompatible with other available DBMS products, complicating integration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99632" y="17830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2057400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1" name="Image 1" descr="/home/claude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217810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20848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Database Roles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473952" y="27432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Administrator (DBA)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Designer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Developer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Programmer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Big Data Specialist (Data Scientist)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A3470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572000"/>
            <a:ext cx="4114800" cy="4114800"/>
          </a:xfrm>
          <a:prstGeom prst="ellipse">
            <a:avLst/>
          </a:prstGeom>
          <a:solidFill>
            <a:srgbClr val="2A347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A46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Models &amp; Database Life Cycle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abstract representation of reality to a working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OF ABSTRACTION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Levels of a Data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model is a representation of reality, viewed at three different levels of abstraction: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48840"/>
            <a:ext cx="3520440" cy="82296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3520440" cy="822960"/>
          </a:xfrm>
          <a:prstGeom prst="roundRect">
            <a:avLst>
              <a:gd name="adj" fmla="val 8889"/>
            </a:avLst>
          </a:prstGeom>
          <a:solidFill>
            <a:srgbClr val="3D5AFE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31343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icons/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434133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2677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54480" y="25877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Sees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320040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what different types of users will view — concerned with what data the user sees and how it is presented.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89120" y="214884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0" y="2148840"/>
            <a:ext cx="35204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Shape 12"/>
          <p:cNvSpPr/>
          <p:nvPr/>
        </p:nvSpPr>
        <p:spPr>
          <a:xfrm>
            <a:off x="4389120" y="2148840"/>
            <a:ext cx="352044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16" name="Shape 13"/>
          <p:cNvSpPr/>
          <p:nvPr/>
        </p:nvSpPr>
        <p:spPr>
          <a:xfrm>
            <a:off x="4617720" y="231343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/home/claude/icons/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421" y="2434133"/>
            <a:ext cx="261518" cy="26151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03520" y="22677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303520" y="25877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Logical Model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617720" y="320040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the logical nature of data representation — concerned with what is represented (tables, constraints), not how.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8138160" y="214884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138160" y="2148840"/>
            <a:ext cx="3520440" cy="822960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23" name="Shape 19"/>
          <p:cNvSpPr/>
          <p:nvPr/>
        </p:nvSpPr>
        <p:spPr>
          <a:xfrm>
            <a:off x="8138160" y="2148840"/>
            <a:ext cx="3520440" cy="822960"/>
          </a:xfrm>
          <a:prstGeom prst="roundRect">
            <a:avLst>
              <a:gd name="adj" fmla="val 8889"/>
            </a:avLst>
          </a:prstGeom>
          <a:solidFill>
            <a:srgbClr val="0EA5A4"/>
          </a:solidFill>
          <a:ln/>
        </p:spPr>
      </p:sp>
      <p:sp>
        <p:nvSpPr>
          <p:cNvPr id="24" name="Shape 20"/>
          <p:cNvSpPr/>
          <p:nvPr/>
        </p:nvSpPr>
        <p:spPr>
          <a:xfrm>
            <a:off x="8366760" y="231343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2" descr="/home/claude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461" y="2434133"/>
            <a:ext cx="261518" cy="26151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052560" y="22677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9052560" y="25877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Model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366760" y="320040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Emphasizes how data is physically represented and how data structures are implemented in storage.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ONLINE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Database Life 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A46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Analyst defines scope via Requirements Document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0" y="3154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10712" y="17830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3D5AFE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93592" y="19659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A9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593592" y="2880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Design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93592" y="34747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Designer creates the ERD (Entity Relationship Diagram)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71032" y="3154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181344" y="17830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64224" y="19659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A46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364224" y="2880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Mapping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64224" y="34747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mapping rules to convert ERD into DB Schema (actual tables)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41664" y="3154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951976" y="17830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3D5AFE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34856" y="19659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A9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9134856" y="2880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Implementation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34856" y="34747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 tool (Access, SQL Server, Oracle, MySQL) brings DB online via SQL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2578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53492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FE4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1463040" y="5394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Application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63040" y="57607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Programmer builds the user interface — C#, HTML, JS, MVC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99632" y="52578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36792" y="53492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46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7022592" y="5394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Access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22592" y="57607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connects via Browser → URL (e.g. a web application like Facebook)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Client → App Server → DB Server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971800"/>
            <a:ext cx="548640" cy="54864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6" name="Image 0" descr="/home/claude/icons/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234" y="31034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520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URL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Facebook)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46120" y="3108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06324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14800" y="21031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2331720"/>
            <a:ext cx="548640" cy="54864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13" name="Image 1" descr="/home/claude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074" y="246339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920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297680" y="2971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/ Application layer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interface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(C#, HTML, JS, MVC)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949440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812280" y="2240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949440" y="3200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←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6812280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955280" y="21031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83880" y="23317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2" descr="/home/claud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554" y="2463394"/>
            <a:ext cx="285293" cy="28529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86968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Server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138160" y="2971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 engine that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stores, manages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the data via SQL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22960" y="4434840"/>
            <a:ext cx="1051560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109728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Employee Table (table → Emp)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5074920"/>
          <a:ext cx="4572000" cy="96012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1524000"/>
              </a:tblGrid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Text 22"/>
          <p:cNvSpPr/>
          <p:nvPr/>
        </p:nvSpPr>
        <p:spPr>
          <a:xfrm>
            <a:off x="5943600" y="49377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→ Name, ID, Salary  (data attributes)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is the Primary Key — Unique + Not Null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has a defined Data Type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System vs. Relational Database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CF6F5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/home/claude/icons/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17810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848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File-Based System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files (Student Data, Dept Data)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defined relationship between files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/ inconsistent records possible (e.g. “ahmed” appears twice with different ages)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enforced data types or constraints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99632" y="17830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2057400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1" name="Image 1" descr="/home/claude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217810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20848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DB System</a:t>
            </a:r>
            <a:endParaRPr lang="en-US" sz="1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788920"/>
          <a:ext cx="1828800" cy="100584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</a:tblGrid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F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09760" y="2788920"/>
          <a:ext cx="1828800" cy="100584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</a:tblGrid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A4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0"/>
                    </a:solidFill>
                  </a:tcPr>
                </a:tc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8549640" y="3154680"/>
            <a:ext cx="914400" cy="0"/>
          </a:xfrm>
          <a:prstGeom prst="line">
            <a:avLst/>
          </a:prstGeom>
          <a:noFill/>
          <a:ln w="31750">
            <a:solidFill>
              <a:srgbClr val="0EA5A4"/>
            </a:solidFill>
            <a:prstDash val="solid"/>
            <a:headEnd type="triangle"/>
            <a:tailEnd type="triangle"/>
          </a:ln>
        </p:spPr>
      </p:sp>
      <p:sp>
        <p:nvSpPr>
          <p:cNvPr id="16" name="Text 10"/>
          <p:cNvSpPr/>
          <p:nvPr/>
        </p:nvSpPr>
        <p:spPr>
          <a:xfrm>
            <a:off x="6473952" y="411480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are linked via shared key values (id = 1 → id = 10)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(PK): Unique + Not Null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has a defined data type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enforce consistency across tables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A3470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572000"/>
            <a:ext cx="4114800" cy="4114800"/>
          </a:xfrm>
          <a:prstGeom prst="ellipse">
            <a:avLst/>
          </a:prstGeom>
          <a:solidFill>
            <a:srgbClr val="2A347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A46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Diagrams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entities, attributes, and relationships visually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Constructs of the ER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331720"/>
            <a:ext cx="1645920" cy="73152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Sets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a person, place, object, event, or concept — something distinguishable from any other object. Drawn as rectangles.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26380" y="2331720"/>
            <a:ext cx="1645920" cy="822960"/>
          </a:xfrm>
          <a:prstGeom prst="diamond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326380" y="2331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3291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 Sets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7947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between entities, corresponding to primary key – foreign key equivalencies in related tables. Drawn as diamonds.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01168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075420" y="2331720"/>
            <a:ext cx="1645920" cy="73152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16" name="Text 14"/>
          <p:cNvSpPr/>
          <p:nvPr/>
        </p:nvSpPr>
        <p:spPr>
          <a:xfrm>
            <a:off x="9075420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cust-name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3291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37947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or characteristics of an entity type — often correspond to a field/column in a table. Drawn as ellipses.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ERD: Customer — Account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2834640"/>
            <a:ext cx="0" cy="1371600"/>
          </a:xfrm>
          <a:prstGeom prst="line">
            <a:avLst/>
          </a:prstGeom>
          <a:noFill/>
          <a:ln w="12700">
            <a:solidFill>
              <a:srgbClr val="AEB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1554480" cy="594360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011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cust-id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71800" y="2834640"/>
            <a:ext cx="0" cy="1371600"/>
          </a:xfrm>
          <a:prstGeom prst="line">
            <a:avLst/>
          </a:prstGeom>
          <a:noFill/>
          <a:ln w="12700">
            <a:solidFill>
              <a:srgbClr val="AEB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2011680"/>
            <a:ext cx="1554480" cy="594360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2011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cust-name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749040"/>
            <a:ext cx="1828800" cy="914400"/>
          </a:xfrm>
          <a:prstGeom prst="rect">
            <a:avLst/>
          </a:prstGeom>
          <a:solidFill>
            <a:srgbClr val="3D5AFE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0" y="3703320"/>
            <a:ext cx="1554480" cy="1005840"/>
          </a:xfrm>
          <a:prstGeom prst="diamond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0" y="37033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3749040"/>
            <a:ext cx="1828800" cy="914400"/>
          </a:xfrm>
          <a:prstGeom prst="rect">
            <a:avLst/>
          </a:prstGeom>
          <a:solidFill>
            <a:srgbClr val="3D5AFE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0" y="4206240"/>
            <a:ext cx="91440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4206240"/>
            <a:ext cx="91440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2834640"/>
            <a:ext cx="0" cy="1371600"/>
          </a:xfrm>
          <a:prstGeom prst="line">
            <a:avLst/>
          </a:prstGeom>
          <a:noFill/>
          <a:ln w="12700">
            <a:solidFill>
              <a:srgbClr val="AEB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2011680"/>
            <a:ext cx="1737360" cy="594360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20116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32520" y="2834640"/>
            <a:ext cx="0" cy="1371600"/>
          </a:xfrm>
          <a:prstGeom prst="line">
            <a:avLst/>
          </a:prstGeom>
          <a:noFill/>
          <a:ln w="12700">
            <a:solidFill>
              <a:srgbClr val="AEB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2011680"/>
            <a:ext cx="1737360" cy="594360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863840" y="20116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823960" y="4663440"/>
            <a:ext cx="0" cy="548640"/>
          </a:xfrm>
          <a:prstGeom prst="line">
            <a:avLst/>
          </a:prstGeom>
          <a:noFill/>
          <a:ln w="12700">
            <a:solidFill>
              <a:srgbClr val="AEB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23960" y="5212080"/>
            <a:ext cx="1737360" cy="594360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823960" y="5212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access-date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55280" y="4206240"/>
            <a:ext cx="868680" cy="457200"/>
          </a:xfrm>
          <a:prstGeom prst="line">
            <a:avLst/>
          </a:prstGeom>
          <a:noFill/>
          <a:ln w="12700">
            <a:solidFill>
              <a:srgbClr val="AEB8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25880" y="4663440"/>
            <a:ext cx="0" cy="548640"/>
          </a:xfrm>
          <a:prstGeom prst="line">
            <a:avLst/>
          </a:prstGeom>
          <a:noFill/>
          <a:ln w="12700">
            <a:solidFill>
              <a:srgbClr val="AEB8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212080"/>
            <a:ext cx="1737360" cy="594360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5212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cust-street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331720" y="4663440"/>
            <a:ext cx="0" cy="548640"/>
          </a:xfrm>
          <a:prstGeom prst="line">
            <a:avLst/>
          </a:prstGeom>
          <a:noFill/>
          <a:ln w="12700">
            <a:solidFill>
              <a:srgbClr val="AEB8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5212080"/>
            <a:ext cx="1737360" cy="594360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377440" y="5212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cust-city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5989320"/>
            <a:ext cx="10908792" cy="594360"/>
          </a:xfrm>
          <a:prstGeom prst="roundRect">
            <a:avLst>
              <a:gd name="adj" fmla="val 9231"/>
            </a:avLst>
          </a:prstGeom>
          <a:solidFill>
            <a:srgbClr val="F4F6FC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59893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Rectangle = Entity Set     </a:t>
            </a:r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Diamond = Relationship Set     </a:t>
            </a:r>
            <a:pPr algn="ctr" indent="0" marL="0">
              <a:buNone/>
            </a:pPr>
            <a:r>
              <a:rPr lang="en-US" sz="13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Ellipse = Attribute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CLASSIFICATION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Attributes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463040"/>
          </a:xfrm>
          <a:prstGeom prst="roundRect">
            <a:avLst>
              <a:gd name="adj" fmla="val 437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411480" cy="41148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920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Attribute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atomic value that cannot be divided further (e.g. cust-id, balance).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520440" cy="1463040"/>
          </a:xfrm>
          <a:prstGeom prst="roundRect">
            <a:avLst>
              <a:gd name="adj" fmla="val 437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9659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920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Attribute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0" y="23774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divided into smaller sub-parts that represent more basic attributes (e.g. Name → First, Last).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520440" cy="1463040"/>
          </a:xfrm>
          <a:prstGeom prst="roundRect">
            <a:avLst>
              <a:gd name="adj" fmla="val 437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1965960"/>
            <a:ext cx="411480" cy="41148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1920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Attribute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21040" y="23774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hold more than one value for a single entity (e.g. phone numbers, addresses). Drawn as a double ellipse.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3520440" cy="1463040"/>
          </a:xfrm>
          <a:prstGeom prst="roundRect">
            <a:avLst>
              <a:gd name="adj" fmla="val 437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61188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Attribute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40233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value is calculated from other attributes (e.g. Age derived from Date-of-Birth, Net Salary from Salary – Deduction). Drawn as a dashed ellipse.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3429000"/>
            <a:ext cx="3520440" cy="1463040"/>
          </a:xfrm>
          <a:prstGeom prst="roundRect">
            <a:avLst>
              <a:gd name="adj" fmla="val 437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3611880"/>
            <a:ext cx="411480" cy="4114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Attribute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72000" y="40233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combination of composite and multi-valued attributes nested together (e.g. multiple addresses, each with Street, City, Country).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CLASSIFICATION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vs. Weak Entities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6" name="Image 0" descr="/home/claude/icons/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17810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848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Entity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set that has a Primary Key — its own attributes are sufficient to uniquely identify each instance, independent of any other entity.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371600" y="4160520"/>
            <a:ext cx="1645920" cy="73152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4160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5120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by its own primary key (e.g. cust-id)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99632" y="17830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73952" y="2057400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4" name="Image 1" descr="/home/claude/icons/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2178101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59752" y="20848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Entity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473952" y="27889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set that does not have sufficient attributes to form a primary key on its own. It relies on a related (owner) entity for identification.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931152" y="4160520"/>
            <a:ext cx="1737360" cy="777240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18" name="Shape 14"/>
          <p:cNvSpPr/>
          <p:nvPr/>
        </p:nvSpPr>
        <p:spPr>
          <a:xfrm>
            <a:off x="7004304" y="4224528"/>
            <a:ext cx="1591056" cy="649224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931152" y="41605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473952" y="5120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using a Partial Key + the owner entity’s primary key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A3470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572000"/>
            <a:ext cx="4114800" cy="4114800"/>
          </a:xfrm>
          <a:prstGeom prst="ellipse">
            <a:avLst/>
          </a:prstGeom>
          <a:solidFill>
            <a:srgbClr val="2A347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A46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Relationships, Cardinality &amp; Keys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how entities connect and how rows are uniquely identified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PROPERTIES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Degree of Relationships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relationship is an association among several entities, and may itself carry attributes (e.g. date-issued on the “borrower” relationship between customer and loan).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06040"/>
            <a:ext cx="594360" cy="59436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7" name="Image 0" descr="/home/claude/icon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74868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Unary (Degree 1)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8862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recursive relationship in which the same entity participates more than once — between two instances of one entity type.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89120" y="233172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6060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086" y="2748686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(Degree 2)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63440" y="38862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relationship type — between the instances of two distinct entity types.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138160" y="233172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2606040"/>
            <a:ext cx="594360" cy="59436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7" name="Image 2" descr="/home/claude/icons/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26" y="2748686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Ternary (Degree 3)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12480" y="38862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relationship among the instances of three different entity types simultaneously.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CONSTRAINTS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One-to-One, One-to-Many, Many-to-Many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1645920" cy="73152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2140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2075688"/>
            <a:ext cx="1371600" cy="822960"/>
          </a:xfrm>
          <a:prstGeom prst="diamond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207568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121408"/>
            <a:ext cx="1645920" cy="73152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12140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0" y="2487168"/>
            <a:ext cx="45720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0" y="2487168"/>
            <a:ext cx="45720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21945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One-to-One (1:1)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10908792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3675888"/>
            <a:ext cx="164592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67588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017520" y="3630168"/>
            <a:ext cx="1371600" cy="822960"/>
          </a:xfrm>
          <a:prstGeom prst="diamond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0" y="363016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3675888"/>
            <a:ext cx="164592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67588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560320" y="4041648"/>
            <a:ext cx="45720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2032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89120" y="4041648"/>
            <a:ext cx="45720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0" y="3749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One-to-Many (1:M)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40080" y="4937760"/>
            <a:ext cx="10908792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4400" y="5230368"/>
            <a:ext cx="1645920" cy="731520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2303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017520" y="5184648"/>
            <a:ext cx="1371600" cy="822960"/>
          </a:xfrm>
          <a:prstGeom prst="diamond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3017520" y="518464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5230368"/>
            <a:ext cx="1645920" cy="731520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52303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560320" y="5596128"/>
            <a:ext cx="45720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389120" y="5596128"/>
            <a:ext cx="45720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98848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66560" y="53035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Many-to-Many (M:M)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VS. PARTIAL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Participation Constraints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6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17810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848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Participation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MUST work for a Department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entity can only exist if it participates in a WORKS_FOR relationship instance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notation: (1,1) or (1,N) — minimum 1 means mandatory participation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78308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2057400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1" name="Image 1" descr="/home/claude/icons/exch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217810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20848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Participation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473952" y="274320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some employees manage departments — participation is optional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Department may hire many employees (zero or more)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notation: (0,1) or (0,N) — minimum 0 means optional participation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0080" y="60807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Constraint: (min, max) defines the minimum and maximum number of times an entity instance can participate in a relationship instance.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IDENTIFYING ROWS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Keys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51760" cy="2377440"/>
          </a:xfrm>
          <a:prstGeom prst="roundRect">
            <a:avLst>
              <a:gd name="adj" fmla="val 269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6" name="Image 0" descr="/home/claude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756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476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set of attributes that can uniquely identify an entity — may include extra, unnecessary attributes.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783080"/>
            <a:ext cx="2651760" cy="2377440"/>
          </a:xfrm>
          <a:prstGeom prst="roundRect">
            <a:avLst>
              <a:gd name="adj" fmla="val 269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196596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11" name="Image 1" descr="/home/claude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20756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51960" y="19476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57600" y="25603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super key — no attribute can be removed without losing uniqueness. May consist of more than one attribute.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783080"/>
            <a:ext cx="2651760" cy="2377440"/>
          </a:xfrm>
          <a:prstGeom prst="roundRect">
            <a:avLst>
              <a:gd name="adj" fmla="val 269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96596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16" name="Image 2" descr="/home/claude/icon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07568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86600" y="19476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92240" y="25603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key chosen by the designer as the unique identifier of an entity. Must be Unique &amp; Not Null. May be composite.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44000" y="1783080"/>
            <a:ext cx="2651760" cy="2377440"/>
          </a:xfrm>
          <a:prstGeom prst="roundRect">
            <a:avLst>
              <a:gd name="adj" fmla="val 269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26880" y="196596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21" name="Image 3" descr="/home/claude/icons/k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207568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921240" y="19476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Key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26880" y="25603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key that was not chosen as the primary key (e.g. if SSN is PK, License # is an alternate key for Driver).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4389120"/>
            <a:ext cx="2651760" cy="2377440"/>
          </a:xfrm>
          <a:prstGeom prst="roundRect">
            <a:avLst>
              <a:gd name="adj" fmla="val 269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457200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26" name="Image 4" descr="/home/claude/icons/k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68172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5537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822960" y="51663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primary key made up of two or more attributes combined together.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474720" y="4389120"/>
            <a:ext cx="2651760" cy="2377440"/>
          </a:xfrm>
          <a:prstGeom prst="roundRect">
            <a:avLst>
              <a:gd name="adj" fmla="val 269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57600" y="457200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31" name="Image 5" descr="/home/claude/icons/k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7328" y="4681728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251960" y="45537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3657600" y="51663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attribute in one table that references the primary key of another table — the basis of relationships.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309360" y="4389120"/>
            <a:ext cx="2651760" cy="2377440"/>
          </a:xfrm>
          <a:prstGeom prst="roundRect">
            <a:avLst>
              <a:gd name="adj" fmla="val 269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92240" y="457200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36" name="Image 6" descr="/home/claude/icons/ke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68" y="4681728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086600" y="45537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Key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6492240" y="51663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attributes that, combined with the owner entity’s primary key, distinguishes a weak entity.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IN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&amp; Identifying Relationships — Notation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 Notation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ERD, the primary key attribute is shown with an underlined name inside its ellipse.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103120" y="3383280"/>
            <a:ext cx="2377440" cy="8229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3383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cust-id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434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Underlined attribute name = Primary Key of the entity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983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“SSN” is the primary key of Customer. “(SSN, Name)” would NOT be a minimal candidate key since SSN alone suffices.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17830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73952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Identifying Relationship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73952" y="2606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 strong entity to a weak entity, represented with a double-line diamond.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675120" y="3383280"/>
            <a:ext cx="1737360" cy="82296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33832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49640" y="3291840"/>
            <a:ext cx="1371600" cy="1005840"/>
          </a:xfrm>
          <a:prstGeom prst="diamond">
            <a:avLst/>
          </a:prstGeom>
          <a:solidFill>
            <a:srgbClr val="0EA5A4"/>
          </a:solidFill>
          <a:ln/>
        </p:spPr>
      </p:sp>
      <p:sp>
        <p:nvSpPr>
          <p:cNvPr id="17" name="Shape 15"/>
          <p:cNvSpPr/>
          <p:nvPr/>
        </p:nvSpPr>
        <p:spPr>
          <a:xfrm>
            <a:off x="8668512" y="3410712"/>
            <a:ext cx="1133856" cy="768096"/>
          </a:xfrm>
          <a:prstGeom prst="diamond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32918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104120" y="3383280"/>
            <a:ext cx="1280160" cy="82296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77272" y="3456432"/>
            <a:ext cx="1133856" cy="676656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04120" y="33832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73952" y="45262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Double-line shapes indicate weak entities and their identifying relationships — the weak entity’s existence depends on the strong entity.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A3470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572000"/>
            <a:ext cx="4114800" cy="4114800"/>
          </a:xfrm>
          <a:prstGeom prst="ellipse">
            <a:avLst/>
          </a:prstGeom>
          <a:solidFill>
            <a:srgbClr val="2A347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A46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Fundamentals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Query Language: standards, vendors, and command categories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&amp; IMPLEMENTATIONS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 SQL and Vendor Dialects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0" y="16916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0" y="16916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 SQL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943100" y="2468880"/>
            <a:ext cx="4137660" cy="594360"/>
          </a:xfrm>
          <a:prstGeom prst="line">
            <a:avLst/>
          </a:prstGeom>
          <a:noFill/>
          <a:ln w="19050">
            <a:solidFill>
              <a:srgbClr val="C5C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0632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063240"/>
            <a:ext cx="2606040" cy="64008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06324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3D5AF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63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Transact-SQL (T-SQL)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343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Access, SQL Server, SQL Azure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0308" y="2468880"/>
            <a:ext cx="1330452" cy="594360"/>
          </a:xfrm>
          <a:prstGeom prst="line">
            <a:avLst/>
          </a:prstGeom>
          <a:noFill/>
          <a:ln w="19050">
            <a:solidFill>
              <a:srgbClr val="C5C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47288" y="30632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47288" y="3063240"/>
            <a:ext cx="2606040" cy="6400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6" name="Shape 14"/>
          <p:cNvSpPr/>
          <p:nvPr/>
        </p:nvSpPr>
        <p:spPr>
          <a:xfrm>
            <a:off x="3447288" y="306324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990011"/>
          </a:solidFill>
          <a:ln/>
        </p:spPr>
      </p:sp>
      <p:sp>
        <p:nvSpPr>
          <p:cNvPr id="17" name="Text 15"/>
          <p:cNvSpPr/>
          <p:nvPr/>
        </p:nvSpPr>
        <p:spPr>
          <a:xfrm>
            <a:off x="3447288" y="3063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84448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84448" y="4343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Language extension to SQL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flipH="1">
            <a:off x="7557516" y="2468880"/>
            <a:ext cx="-1476756" cy="594360"/>
          </a:xfrm>
          <a:prstGeom prst="line">
            <a:avLst/>
          </a:prstGeom>
          <a:noFill/>
          <a:ln w="19050">
            <a:solidFill>
              <a:srgbClr val="C5C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54496" y="30632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54496" y="3063240"/>
            <a:ext cx="2606040" cy="640080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23" name="Shape 21"/>
          <p:cNvSpPr/>
          <p:nvPr/>
        </p:nvSpPr>
        <p:spPr>
          <a:xfrm>
            <a:off x="6254496" y="306324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0EA5A4"/>
          </a:solidFill>
          <a:ln/>
        </p:spPr>
      </p:sp>
      <p:sp>
        <p:nvSpPr>
          <p:cNvPr id="24" name="Text 22"/>
          <p:cNvSpPr/>
          <p:nvPr/>
        </p:nvSpPr>
        <p:spPr>
          <a:xfrm>
            <a:off x="6254496" y="3063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391656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PL/SQL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91656" y="4343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across IBM database platforms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 flipH="1">
            <a:off x="10364724" y="2468880"/>
            <a:ext cx="-4283964" cy="594360"/>
          </a:xfrm>
          <a:prstGeom prst="line">
            <a:avLst/>
          </a:prstGeom>
          <a:noFill/>
          <a:ln w="19050">
            <a:solidFill>
              <a:srgbClr val="C5CC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61704" y="30632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061704" y="3063240"/>
            <a:ext cx="260604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0" name="Shape 28"/>
          <p:cNvSpPr/>
          <p:nvPr/>
        </p:nvSpPr>
        <p:spPr>
          <a:xfrm>
            <a:off x="9061704" y="306324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9061704" y="3063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198864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98864" y="4343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open-source RDBMS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CATEGORIES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Command Categories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103120" cy="420624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2103120" cy="9144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830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3D5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562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 Language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200400"/>
            <a:ext cx="1554480" cy="0"/>
          </a:xfrm>
          <a:prstGeom prst="line">
            <a:avLst/>
          </a:prstGeom>
          <a:noFill/>
          <a:ln w="12700">
            <a:solidFill>
              <a:srgbClr val="D5DB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3756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TABLE, CREATE FUNCTION, CREATE VIEW, ALTER, DROP, SELECT INTO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66644" y="1783080"/>
            <a:ext cx="2103120" cy="420624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66644" y="1783080"/>
            <a:ext cx="210312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2866644" y="17830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2866644" y="18562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958084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Language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58084" y="2834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40964" y="3200400"/>
            <a:ext cx="1554480" cy="0"/>
          </a:xfrm>
          <a:prstGeom prst="line">
            <a:avLst/>
          </a:prstGeom>
          <a:noFill/>
          <a:ln w="12700">
            <a:solidFill>
              <a:srgbClr val="D5DB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03804" y="333756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UPDATE, DELETE, MERGE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93208" y="1783080"/>
            <a:ext cx="2103120" cy="420624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93208" y="1783080"/>
            <a:ext cx="2103120" cy="914400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22" name="Shape 20"/>
          <p:cNvSpPr/>
          <p:nvPr/>
        </p:nvSpPr>
        <p:spPr>
          <a:xfrm>
            <a:off x="5093208" y="17830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EA5A4"/>
          </a:solidFill>
          <a:ln/>
        </p:spPr>
      </p:sp>
      <p:sp>
        <p:nvSpPr>
          <p:cNvPr id="23" name="Text 21"/>
          <p:cNvSpPr/>
          <p:nvPr/>
        </p:nvSpPr>
        <p:spPr>
          <a:xfrm>
            <a:off x="5093208" y="18562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DCL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184648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 Language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184648" y="2834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67528" y="3200400"/>
            <a:ext cx="1554480" cy="0"/>
          </a:xfrm>
          <a:prstGeom prst="line">
            <a:avLst/>
          </a:prstGeom>
          <a:noFill/>
          <a:ln w="12700">
            <a:solidFill>
              <a:srgbClr val="D5DB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333756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GRANT, DENY, REVOKE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9772" y="1783080"/>
            <a:ext cx="2103120" cy="420624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9772" y="1783080"/>
            <a:ext cx="2103120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9772" y="17830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B85042"/>
          </a:solidFill>
          <a:ln/>
        </p:spPr>
      </p:sp>
      <p:sp>
        <p:nvSpPr>
          <p:cNvPr id="31" name="Text 29"/>
          <p:cNvSpPr/>
          <p:nvPr/>
        </p:nvSpPr>
        <p:spPr>
          <a:xfrm>
            <a:off x="7319772" y="18562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DQL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411212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Query Language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411212" y="2834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594092" y="3200400"/>
            <a:ext cx="1554480" cy="0"/>
          </a:xfrm>
          <a:prstGeom prst="line">
            <a:avLst/>
          </a:prstGeom>
          <a:noFill/>
          <a:ln w="12700">
            <a:solidFill>
              <a:srgbClr val="D5DB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6932" y="333756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JOINs, UNION, Subquery, GROUP BY, Aggregate Functions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546336" y="1783080"/>
            <a:ext cx="2103120" cy="420624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546336" y="1783080"/>
            <a:ext cx="2103120" cy="914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8" name="Shape 36"/>
          <p:cNvSpPr/>
          <p:nvPr/>
        </p:nvSpPr>
        <p:spPr>
          <a:xfrm>
            <a:off x="9546336" y="17830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6D2E46"/>
          </a:solidFill>
          <a:ln/>
        </p:spPr>
      </p:sp>
      <p:sp>
        <p:nvSpPr>
          <p:cNvPr id="39" name="Text 37"/>
          <p:cNvSpPr/>
          <p:nvPr/>
        </p:nvSpPr>
        <p:spPr>
          <a:xfrm>
            <a:off x="9546336" y="18562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TCL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9637776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Control Language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637776" y="2834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CONSISTENCY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820656" y="3200400"/>
            <a:ext cx="1554480" cy="0"/>
          </a:xfrm>
          <a:prstGeom prst="line">
            <a:avLst/>
          </a:prstGeom>
          <a:noFill/>
          <a:ln w="12700">
            <a:solidFill>
              <a:srgbClr val="D5DB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83496" y="333756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TRANSACTION, COMMIT, ROLLBACK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 LANGUAGE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 — Defining Database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3D5AFE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21890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focuses on the STRUCTURE of database objects — creating, modifying, and removing tables, views, and functions.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— define a new table and its columns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FUNCTION — define reusable SQL functions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VIEW — define a virtual table from a query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— modify an existing object’s structure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— permanently remove an object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INTO — create a new table from query results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897880" y="1783080"/>
            <a:ext cx="5650992" cy="4114800"/>
          </a:xfrm>
          <a:prstGeom prst="roundRect">
            <a:avLst>
              <a:gd name="adj" fmla="val 1778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7220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72200" y="237744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Employee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EmpID    INT PRIMARY KEY,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   VARCHAR(50) NOT NULL,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Salary   DECIMAL(10,2)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Employee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DeptID INT;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OldEmployee;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LANGUAGE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 — Manipulating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icon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21890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focuses on the DATA itself — inserting, updating, deleting, and merging records within existing tables.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— add new rows to a table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— modify existing rows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remove rows from a table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— combine insert/update/delete in one operation based on matching conditions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897880" y="1783080"/>
            <a:ext cx="5650992" cy="4114800"/>
          </a:xfrm>
          <a:prstGeom prst="roundRect">
            <a:avLst>
              <a:gd name="adj" fmla="val 1778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7220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72200" y="237744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Employee (EmpID, Name, Salary)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(1, 'Ahmed', 8000);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Employee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Salary = Salary * 1.10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EmpID = 1;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Employee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EmpID = 3;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&amp; CONSISTENCY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DCL — Permissions  |  TCL — Transactions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icons/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21890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DCL — Data Control Language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45920" y="2514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PERMISSIONS — who is allowed to access or modify data.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2004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— give a user specific privileges (e.g. SELECT, INSERT)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— explicitly prevent a privilege, overriding inherited grants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— remove a previously granted privilege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14400" y="4754880"/>
            <a:ext cx="4754880" cy="868680"/>
          </a:xfrm>
          <a:prstGeom prst="rect">
            <a:avLst/>
          </a:prstGeom>
          <a:solidFill>
            <a:srgbClr val="08605F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47548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SELECT, INSERT ON Employee TO 'analyst';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99632" y="17830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73952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home/claude/icons/un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626" y="218907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05472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TCL — Transactional Control Language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205472" y="2514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DB CONSISTENCY — groups operations into atomic transactions.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73952" y="32004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TRANSACTION — start a unit of work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— permanently save all changes in the transaction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— undo all changes since the last commit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473952" y="4754880"/>
            <a:ext cx="4754880" cy="868680"/>
          </a:xfrm>
          <a:prstGeom prst="rect">
            <a:avLst/>
          </a:prstGeom>
          <a:solidFill>
            <a:srgbClr val="4A1E32"/>
          </a:solidFill>
          <a:ln/>
        </p:spPr>
      </p:sp>
      <p:sp>
        <p:nvSpPr>
          <p:cNvPr id="19" name="Text 15"/>
          <p:cNvSpPr/>
          <p:nvPr/>
        </p:nvSpPr>
        <p:spPr>
          <a:xfrm>
            <a:off x="6611112" y="47548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TRANSACTION;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... ; COMMIT;  -- or ROLLBACK;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QUERY LANGUAGE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DQL — Querying &amp; Displaying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21890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DQL focuses on DISPLAY — retrieving and shaping data from one or more tables for the user to view.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— retrieve columns and rows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— combine rows from multiple tables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— combine results of multiple queries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— a query nested inside another query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(Grouping) — aggregate rows by category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 — COUNT, SUM, AVG, MIN, MAX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897880" y="1783080"/>
            <a:ext cx="5650992" cy="4114800"/>
          </a:xfrm>
          <a:prstGeom prst="roundRect">
            <a:avLst>
              <a:gd name="adj" fmla="val 1778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7220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72200" y="237744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D.DeptName,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COUNT(E.EmpID) AS NumEmployees,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AVG(E.Salary)  AS AvgSalary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 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Department 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E.DeptID = D.DeptID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E.Salary &gt; 5000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D.DeptName;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A3470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572000"/>
            <a:ext cx="4114800" cy="4114800"/>
          </a:xfrm>
          <a:prstGeom prst="ellipse">
            <a:avLst/>
          </a:prstGeom>
          <a:solidFill>
            <a:srgbClr val="2A347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7" name="Image 0" descr="/home/claude/icons/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04094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systems suffer from redundancy, no security, and no relationships — motivating DBMS adoption.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10" name="Image 1" descr="/home/claude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290962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743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 Life Cycle moves from Analysis → Design (ERD) → Mapping → Implementation → GUI → Client access.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13" name="Image 2" descr="/home/claude/icons/e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377830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611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ERDs model reality using Entities (rectangles), Relationships (diamonds), and Attributes (ellipses).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40080" y="4526280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16" name="Image 3" descr="/home/claude/icons/k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4646981"/>
            <a:ext cx="261518" cy="26151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4480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(Primary, Candidate, Foreign, Composite) and constraints (cardinality, participation) ensure data integrity.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640080" y="5394960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19" name="Image 4" descr="/home/claude/icons/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1" y="5515661"/>
            <a:ext cx="261518" cy="26151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25880" y="5349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organized into five categories: DDL (structure), DML (data), DCL (permissions), DQL (display), TCL (consistency).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A3470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640080"/>
            <a:ext cx="3291840" cy="3291840"/>
          </a:xfrm>
          <a:prstGeom prst="ellipse">
            <a:avLst/>
          </a:prstGeom>
          <a:solidFill>
            <a:srgbClr val="3D5AF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4297680"/>
            <a:ext cx="4206240" cy="4206240"/>
          </a:xfrm>
          <a:prstGeom prst="ellipse">
            <a:avLst/>
          </a:prstGeom>
          <a:solidFill>
            <a:srgbClr val="2A3470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5120640"/>
            <a:ext cx="2377440" cy="2377440"/>
          </a:xfrm>
          <a:prstGeom prst="ellipse">
            <a:avLst/>
          </a:prstGeom>
          <a:solidFill>
            <a:srgbClr val="0EA5A4">
              <a:alpha val="2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51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822960" cy="54864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886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Concepts &amp; SQL Fundamentals</dc:title>
  <dc:subject>PptxGenJS Presentation</dc:subject>
  <dc:creator>Database Fundamentals</dc:creator>
  <cp:lastModifiedBy>Database Fundamentals</cp:lastModifiedBy>
  <cp:revision>1</cp:revision>
  <dcterms:created xsi:type="dcterms:W3CDTF">2026-06-13T08:35:29Z</dcterms:created>
  <dcterms:modified xsi:type="dcterms:W3CDTF">2026-06-13T08:35:29Z</dcterms:modified>
</cp:coreProperties>
</file>